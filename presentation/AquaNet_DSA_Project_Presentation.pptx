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cd6a0af2904666" /><Relationship Type="http://schemas.openxmlformats.org/officeDocument/2006/relationships/extended-properties" Target="/docProps/app.xml" Id="R0f6014f9e56c4842" /><Relationship Type="http://schemas.openxmlformats.org/officeDocument/2006/relationships/officeDocument" Target="/ppt/presentation.xml" Id="Rbadb138a04ec44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54b48f62174273"/>
  </p:sldMasterIdLst>
  <p:notesMasterIdLst>
    <p:notesMasterId xmlns:r="http://schemas.openxmlformats.org/officeDocument/2006/relationships" r:id="R1183402c6c6a48f8"/>
  </p:notesMasterIdLst>
  <p:sldIdLst>
    <p:sldId xmlns:r="http://schemas.openxmlformats.org/officeDocument/2006/relationships" id="256" r:id="R51cbd4d25b9e425d"/>
    <p:sldId xmlns:r="http://schemas.openxmlformats.org/officeDocument/2006/relationships" id="257" r:id="R785ea07408bb4e42"/>
    <p:sldId xmlns:r="http://schemas.openxmlformats.org/officeDocument/2006/relationships" id="258" r:id="Rb3586e8e1d524e65"/>
    <p:sldId xmlns:r="http://schemas.openxmlformats.org/officeDocument/2006/relationships" id="259" r:id="R3d82f9e930fc41a9"/>
    <p:sldId xmlns:r="http://schemas.openxmlformats.org/officeDocument/2006/relationships" id="260" r:id="R186aa38546cb4e64"/>
    <p:sldId xmlns:r="http://schemas.openxmlformats.org/officeDocument/2006/relationships" id="261" r:id="Rbe1cd1a25c9c4b7e"/>
    <p:sldId xmlns:r="http://schemas.openxmlformats.org/officeDocument/2006/relationships" id="262" r:id="Rbce2c54dd23948c9"/>
    <p:sldId xmlns:r="http://schemas.openxmlformats.org/officeDocument/2006/relationships" id="263" r:id="R2e255e96ad4b43f0"/>
    <p:sldId xmlns:r="http://schemas.openxmlformats.org/officeDocument/2006/relationships" id="264" r:id="R841ca466a9354937"/>
    <p:sldId xmlns:r="http://schemas.openxmlformats.org/officeDocument/2006/relationships" id="265" r:id="R149b10f40fa041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32544718264a5b" /><Relationship Type="http://schemas.openxmlformats.org/officeDocument/2006/relationships/slideMaster" Target="/ppt/slideMasters/slideMaster1.xml" Id="Rff54b48f62174273" /><Relationship Type="http://schemas.openxmlformats.org/officeDocument/2006/relationships/notesMaster" Target="/ppt/notesMasters/notesMaster1.xml" Id="R1183402c6c6a48f8" /><Relationship Type="http://schemas.openxmlformats.org/officeDocument/2006/relationships/presProps" Target="/ppt/presProps.xml" Id="R408a3f5cb45b46d9" /><Relationship Type="http://schemas.openxmlformats.org/officeDocument/2006/relationships/tableStyles" Target="/ppt/tableStyles.xml" Id="Re3468fc1518e4814" /><Relationship Type="http://schemas.openxmlformats.org/officeDocument/2006/relationships/slide" Target="/ppt/slides/slide1.xml" Id="R51cbd4d25b9e425d" /><Relationship Type="http://schemas.openxmlformats.org/officeDocument/2006/relationships/slide" Target="/ppt/slides/slide2.xml" Id="R785ea07408bb4e42" /><Relationship Type="http://schemas.openxmlformats.org/officeDocument/2006/relationships/slide" Target="/ppt/slides/slide3.xml" Id="Rb3586e8e1d524e65" /><Relationship Type="http://schemas.openxmlformats.org/officeDocument/2006/relationships/slide" Target="/ppt/slides/slide4.xml" Id="R3d82f9e930fc41a9" /><Relationship Type="http://schemas.openxmlformats.org/officeDocument/2006/relationships/slide" Target="/ppt/slides/slide5.xml" Id="R186aa38546cb4e64" /><Relationship Type="http://schemas.openxmlformats.org/officeDocument/2006/relationships/slide" Target="/ppt/slides/slide6.xml" Id="Rbe1cd1a25c9c4b7e" /><Relationship Type="http://schemas.openxmlformats.org/officeDocument/2006/relationships/slide" Target="/ppt/slides/slide7.xml" Id="Rbce2c54dd23948c9" /><Relationship Type="http://schemas.openxmlformats.org/officeDocument/2006/relationships/slide" Target="/ppt/slides/slide8.xml" Id="R2e255e96ad4b43f0" /><Relationship Type="http://schemas.openxmlformats.org/officeDocument/2006/relationships/slide" Target="/ppt/slides/slide9.xml" Id="R841ca466a9354937" /><Relationship Type="http://schemas.openxmlformats.org/officeDocument/2006/relationships/slide" Target="/ppt/slides/slide10.xml" Id="R149b10f40fa041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8a24ea24ce47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2f5bdd049d4802" /><Relationship Type="http://schemas.openxmlformats.org/officeDocument/2006/relationships/notesMaster" Target="/ppt/notesMasters/notesMaster1.xml" Id="Rbb2cc5be157149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0328e278c249ad" /><Relationship Type="http://schemas.openxmlformats.org/officeDocument/2006/relationships/notesMaster" Target="/ppt/notesMasters/notesMaster1.xml" Id="R32e0ed50372741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3757ed45b640e5" /><Relationship Type="http://schemas.openxmlformats.org/officeDocument/2006/relationships/notesMaster" Target="/ppt/notesMasters/notesMaster1.xml" Id="Ra769ce80161e4b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9e14b0f0dc4abf" /><Relationship Type="http://schemas.openxmlformats.org/officeDocument/2006/relationships/notesMaster" Target="/ppt/notesMasters/notesMaster1.xml" Id="R0e61a846312b42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a60f17a6744ba2" /><Relationship Type="http://schemas.openxmlformats.org/officeDocument/2006/relationships/notesMaster" Target="/ppt/notesMasters/notesMaster1.xml" Id="R638cfc17c0e44f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4ba7294c3247f7" /><Relationship Type="http://schemas.openxmlformats.org/officeDocument/2006/relationships/notesMaster" Target="/ppt/notesMasters/notesMaster1.xml" Id="R6a20553553ec47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caf734fb08401d" /><Relationship Type="http://schemas.openxmlformats.org/officeDocument/2006/relationships/notesMaster" Target="/ppt/notesMasters/notesMaster1.xml" Id="R07a1b697db6444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fa84311d9b4853" /><Relationship Type="http://schemas.openxmlformats.org/officeDocument/2006/relationships/notesMaster" Target="/ppt/notesMasters/notesMaster1.xml" Id="Ra6f4511717d540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04c39707e040f3" /><Relationship Type="http://schemas.openxmlformats.org/officeDocument/2006/relationships/notesMaster" Target="/ppt/notesMasters/notesMaster1.xml" Id="R8143e99d801c41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f6fde5abe0460b" /><Relationship Type="http://schemas.openxmlformats.org/officeDocument/2006/relationships/notesMaster" Target="/ppt/notesMasters/notesMaster1.xml" Id="R344aa82cba694a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6fdd14bb5947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e686a0e72b47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6f78f3885546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4553b971244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dcdf8a3af24df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c205c6d1942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243EFC-91C1-4E2A-B600-4791AEB9C3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2359B39-FFE3-47A5-B5F6-9B21C3606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7076540-7F47-4F93-A97A-706B597504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569591-5980-4111-8F57-F5550787DF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5933343-F628-4134-AF22-27AED33327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BFC1247-22EC-444D-9F0D-0BA8309C8E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5AD568-BC2F-4766-B182-162B70435A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B19A794-E3CB-4023-87EC-D7D397BA880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4142A5-7B97-4273-9002-B5C5F9C78E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EA93CB-DBB5-441A-80E1-730ACB66A3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809c48d57e4412" /><Relationship Type="http://schemas.openxmlformats.org/officeDocument/2006/relationships/slideLayout" Target="/ppt/slideLayouts/slideLayout1.xml" Id="R0ba168f281da4749" /><Relationship Type="http://schemas.openxmlformats.org/officeDocument/2006/relationships/slideLayout" Target="/ppt/slideLayouts/slideLayout2.xml" Id="R5cbd83be87d54898" /><Relationship Type="http://schemas.openxmlformats.org/officeDocument/2006/relationships/slideLayout" Target="/ppt/slideLayouts/slideLayout3.xml" Id="Rae1765c304324268" /><Relationship Type="http://schemas.openxmlformats.org/officeDocument/2006/relationships/slideLayout" Target="/ppt/slideLayouts/slideLayout4.xml" Id="R48dbe2971ba64301" /><Relationship Type="http://schemas.openxmlformats.org/officeDocument/2006/relationships/slideLayout" Target="/ppt/slideLayouts/slideLayout5.xml" Id="R2aeb21b5f64d42cb" /><Relationship Type="http://schemas.openxmlformats.org/officeDocument/2006/relationships/slideLayout" Target="/ppt/slideLayouts/slideLayout6.xml" Id="Rd3cbb79be7cf43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a168f281da4749"/>
    <p:sldLayoutId xmlns:r="http://schemas.openxmlformats.org/officeDocument/2006/relationships" id="2147483650" r:id="R5cbd83be87d54898"/>
    <p:sldLayoutId xmlns:r="http://schemas.openxmlformats.org/officeDocument/2006/relationships" id="2147483651" r:id="Rae1765c304324268"/>
    <p:sldLayoutId xmlns:r="http://schemas.openxmlformats.org/officeDocument/2006/relationships" id="2147483652" r:id="R48dbe2971ba64301"/>
    <p:sldLayoutId xmlns:r="http://schemas.openxmlformats.org/officeDocument/2006/relationships" id="2147483653" r:id="R2aeb21b5f64d42cb"/>
    <p:sldLayoutId xmlns:r="http://schemas.openxmlformats.org/officeDocument/2006/relationships" id="2147483654" r:id="Rd3cbb79be7cf43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b908a6fce84cd7" /><Relationship Type="http://schemas.openxmlformats.org/officeDocument/2006/relationships/notesSlide" Target="/ppt/notesSlides/notesSlide1.xml" Id="Re4596f8f93c24d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62c4681aa14cb2" /><Relationship Type="http://schemas.openxmlformats.org/officeDocument/2006/relationships/notesSlide" Target="/ppt/notesSlides/notesSlide2.xml" Id="R6763f4812bfe48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41b608503049ab" /><Relationship Type="http://schemas.openxmlformats.org/officeDocument/2006/relationships/notesSlide" Target="/ppt/notesSlides/notesSlide3.xml" Id="R92a1148e3a124f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ac4cb63794168" /><Relationship Type="http://schemas.openxmlformats.org/officeDocument/2006/relationships/notesSlide" Target="/ppt/notesSlides/notesSlide4.xml" Id="R73309f9d245248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b2cceedfdf4037" /><Relationship Type="http://schemas.openxmlformats.org/officeDocument/2006/relationships/notesSlide" Target="/ppt/notesSlides/notesSlide5.xml" Id="R46a120d5dc664e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31a723dfa64cf5" /><Relationship Type="http://schemas.openxmlformats.org/officeDocument/2006/relationships/notesSlide" Target="/ppt/notesSlides/notesSlide6.xml" Id="R00b7b28fc0634c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85804493694b23" /><Relationship Type="http://schemas.openxmlformats.org/officeDocument/2006/relationships/notesSlide" Target="/ppt/notesSlides/notesSlide7.xml" Id="Rf5446d977c1840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fd21f5ff2d4635" /><Relationship Type="http://schemas.openxmlformats.org/officeDocument/2006/relationships/notesSlide" Target="/ppt/notesSlides/notesSlide8.xml" Id="Ra836eafa643148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b5b02a3b644fda" /><Relationship Type="http://schemas.openxmlformats.org/officeDocument/2006/relationships/notesSlide" Target="/ppt/notesSlides/notesSlide9.xml" Id="R38aca2184f7e4b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9a97a00e20483d" /><Relationship Type="http://schemas.openxmlformats.org/officeDocument/2006/relationships/notesSlide" Target="/ppt/notesSlides/notesSlide10.xml" Id="R709b63d6aaf749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ver-accent-teal">
            <a:extLst xmlns:a="http://schemas.openxmlformats.org/drawingml/2006/main">
              <a:ext uri="{FF2B5EF4-FFF2-40B4-BE49-F238E27FC236}">
                <a16:creationId xmlns:a16="http://schemas.microsoft.com/office/drawing/2014/main" id="{E3556EDF-2B95-4432-B1EA-E4C2F5BA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57275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accent-lime">
            <a:extLst xmlns:a="http://schemas.openxmlformats.org/drawingml/2006/main">
              <a:ext uri="{FF2B5EF4-FFF2-40B4-BE49-F238E27FC236}">
                <a16:creationId xmlns:a16="http://schemas.microsoft.com/office/drawing/2014/main" id="{C8CAAE77-8779-4499-A0B8-59C969EB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057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EB4510F-6D7B-431D-9F3C-4820FC7E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4375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E2E8F0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E2E8F0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E2E8F0"/>
                </a:solidFill>
                <a:latin typeface="JetBrains Mono"/>
                <a:ea typeface="JetBrains Mono"/>
                <a:cs typeface="JetBrains Mono"/>
              </a:rPr>
              <a:t>DATA STRUCTURES AND ALGORITHMS PROJECT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CFD5060-2892-45AC-92DE-412C28B9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809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51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51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51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AQUANET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1926AE9-4C83-42C8-9BED-35FBD202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325" b="0">
                <a:solidFill>
                  <a:srgbClr val="CBD5E1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2325" b="0">
                <a:solidFill>
                  <a:srgbClr val="CBD5E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CBD5E1"/>
                </a:solidFill>
                <a:latin typeface="Inter"/>
                <a:ea typeface="Inter"/>
                <a:cs typeface="Inter"/>
              </a:rPr>
              <a:t>Smart Water Resource Management Platform</a:t>
            </a:r>
          </a:p>
        </p:txBody>
      </p:sp>
      <p:sp>
        <p:nvSpPr>
          <p:cNvPr id="6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8E26529C-2ADE-4C8E-9420-790B7652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E2E8F0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E2E8F0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E2E8F0"/>
                </a:solidFill>
                <a:latin typeface="Inter"/>
                <a:ea typeface="Inter"/>
                <a:cs typeface="Inter"/>
              </a:rPr>
              <a:t>How DSA supports water-quality search, treatment planning,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E2E8F0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E2E8F0"/>
                </a:solidFill>
                <a:latin typeface="Inter"/>
                <a:ea typeface="Inter"/>
                <a:cs typeface="Inter"/>
              </a:rPr>
              <a:t>network flow, and sensor analysis.</a:t>
            </a:r>
          </a:p>
        </p:txBody>
      </p:sp>
      <p:sp>
        <p:nvSpPr>
          <p:cNvPr id="7" name="cover-tags">
            <a:extLst xmlns:a="http://schemas.openxmlformats.org/drawingml/2006/main">
              <a:ext uri="{FF2B5EF4-FFF2-40B4-BE49-F238E27FC236}">
                <a16:creationId xmlns:a16="http://schemas.microsoft.com/office/drawing/2014/main" id="{E2BE200C-2A77-442C-8D95-71255E33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6255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SEARCH     PLANNING     NETWORK FLOW     ANALYTICS</a:t>
            </a:r>
          </a:p>
        </p:txBody>
      </p:sp>
      <p:sp>
        <p:nvSpPr>
          <p:cNvPr id="8" name="cover-footer-rule">
            <a:extLst xmlns:a="http://schemas.openxmlformats.org/drawingml/2006/main">
              <a:ext uri="{FF2B5EF4-FFF2-40B4-BE49-F238E27FC236}">
                <a16:creationId xmlns:a16="http://schemas.microsoft.com/office/drawing/2014/main" id="{3347288C-1CDF-4750-8AC1-59371BBF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E11BCE34-3F38-451F-A88E-7EA2C1E3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05525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4A3B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4A3B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050" b="0">
                <a:solidFill>
                  <a:srgbClr val="94A3B8"/>
                </a:solidFill>
                <a:latin typeface="JetBrains Mono"/>
                <a:ea typeface="JetBrains Mono"/>
                <a:cs typeface="JetBrains Mono"/>
              </a:rPr>
              <a:t>AQUANET PROJECT PRESENTATION</a:t>
            </a:r>
          </a:p>
        </p:txBody>
      </p:sp>
    </p:spTree>
    <p:extLst>
      <p:ext uri="{BB962C8B-B14F-4D97-AF65-F5344CB8AC3E}">
        <p14:creationId xmlns:p14="http://schemas.microsoft.com/office/powerpoint/2010/main" val="19153028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97D3B99-FBD5-4615-8486-1F596BD7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JAVA CONSOLE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C8F6A4-220C-4504-B99A-820D367C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System Architecture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F30A26F-8530-4ED9-B46C-FAE028A4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A console menu calls algorithms on fixed water-management examples.</a:t>
            </a:r>
          </a:p>
        </p:txBody>
      </p:sp>
      <p:sp>
        <p:nvSpPr>
          <p:cNvPr id="4" name="architecture-0-surface">
            <a:extLst xmlns:a="http://schemas.openxmlformats.org/drawingml/2006/main">
              <a:ext uri="{FF2B5EF4-FFF2-40B4-BE49-F238E27FC236}">
                <a16:creationId xmlns:a16="http://schemas.microsoft.com/office/drawing/2014/main" id="{EA363842-142C-4071-9716-0E33EDE0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0193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architecture-0-accent">
            <a:extLst xmlns:a="http://schemas.openxmlformats.org/drawingml/2006/main">
              <a:ext uri="{FF2B5EF4-FFF2-40B4-BE49-F238E27FC236}">
                <a16:creationId xmlns:a16="http://schemas.microsoft.com/office/drawing/2014/main" id="{7FB3EE5E-B3FD-4CE6-886A-675AFB8A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rchitecture-0-title">
            <a:extLst xmlns:a="http://schemas.openxmlformats.org/drawingml/2006/main">
              <a:ext uri="{FF2B5EF4-FFF2-40B4-BE49-F238E27FC236}">
                <a16:creationId xmlns:a16="http://schemas.microsoft.com/office/drawing/2014/main" id="{51B65A4C-1BFE-422F-BABB-384CF605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38425"/>
            <a:ext cx="1676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Input</a:t>
            </a:r>
          </a:p>
        </p:txBody>
      </p:sp>
      <p:sp>
        <p:nvSpPr>
          <p:cNvPr id="7" name="architecture-0-body">
            <a:extLst xmlns:a="http://schemas.openxmlformats.org/drawingml/2006/main">
              <a:ext uri="{FF2B5EF4-FFF2-40B4-BE49-F238E27FC236}">
                <a16:creationId xmlns:a16="http://schemas.microsoft.com/office/drawing/2014/main" id="{B9CE911F-775F-4341-BD7D-51DFCB93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38475"/>
            <a:ext cx="16764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Menu choice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Search term</a:t>
            </a:r>
          </a:p>
        </p:txBody>
      </p:sp>
      <p:sp>
        <p:nvSpPr>
          <p:cNvPr id="8" name="architecture-1-surface">
            <a:extLst xmlns:a="http://schemas.openxmlformats.org/drawingml/2006/main">
              <a:ext uri="{FF2B5EF4-FFF2-40B4-BE49-F238E27FC236}">
                <a16:creationId xmlns:a16="http://schemas.microsoft.com/office/drawing/2014/main" id="{0B99A532-C3F9-49D5-9402-A101B30B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457450"/>
            <a:ext cx="20193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architecture-1-accent">
            <a:extLst xmlns:a="http://schemas.openxmlformats.org/drawingml/2006/main">
              <a:ext uri="{FF2B5EF4-FFF2-40B4-BE49-F238E27FC236}">
                <a16:creationId xmlns:a16="http://schemas.microsoft.com/office/drawing/2014/main" id="{4729D5F3-09AB-4C07-9C99-B9358071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457450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rchitecture-1-title">
            <a:extLst xmlns:a="http://schemas.openxmlformats.org/drawingml/2006/main">
              <a:ext uri="{FF2B5EF4-FFF2-40B4-BE49-F238E27FC236}">
                <a16:creationId xmlns:a16="http://schemas.microsoft.com/office/drawing/2014/main" id="{52F3D299-E628-4A97-9755-8A575421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638425"/>
            <a:ext cx="1676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Console app</a:t>
            </a:r>
          </a:p>
        </p:txBody>
      </p:sp>
      <p:sp>
        <p:nvSpPr>
          <p:cNvPr id="11" name="architecture-1-body">
            <a:extLst xmlns:a="http://schemas.openxmlformats.org/drawingml/2006/main">
              <a:ext uri="{FF2B5EF4-FFF2-40B4-BE49-F238E27FC236}">
                <a16:creationId xmlns:a16="http://schemas.microsoft.com/office/drawing/2014/main" id="{5B218987-71AC-4E3B-9DBE-29D11CCC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38475"/>
            <a:ext cx="16764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AquaNetApp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Seven modules</a:t>
            </a:r>
          </a:p>
        </p:txBody>
      </p:sp>
      <p:sp>
        <p:nvSpPr>
          <p:cNvPr id="12" name="architecture-2-surface">
            <a:extLst xmlns:a="http://schemas.openxmlformats.org/drawingml/2006/main">
              <a:ext uri="{FF2B5EF4-FFF2-40B4-BE49-F238E27FC236}">
                <a16:creationId xmlns:a16="http://schemas.microsoft.com/office/drawing/2014/main" id="{2F0DC47C-8B29-4048-B676-E2EA6AA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57450"/>
            <a:ext cx="20193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architecture-2-accent">
            <a:extLst xmlns:a="http://schemas.openxmlformats.org/drawingml/2006/main">
              <a:ext uri="{FF2B5EF4-FFF2-40B4-BE49-F238E27FC236}">
                <a16:creationId xmlns:a16="http://schemas.microsoft.com/office/drawing/2014/main" id="{32CC035E-4A59-45C8-9386-CC569102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57450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rchitecture-2-title">
            <a:extLst xmlns:a="http://schemas.openxmlformats.org/drawingml/2006/main">
              <a:ext uri="{FF2B5EF4-FFF2-40B4-BE49-F238E27FC236}">
                <a16:creationId xmlns:a16="http://schemas.microsoft.com/office/drawing/2014/main" id="{331536B8-49D4-4C04-81DA-E72ACAAD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38425"/>
            <a:ext cx="1676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Sample data</a:t>
            </a:r>
          </a:p>
        </p:txBody>
      </p:sp>
      <p:sp>
        <p:nvSpPr>
          <p:cNvPr id="15" name="architecture-2-body">
            <a:extLst xmlns:a="http://schemas.openxmlformats.org/drawingml/2006/main">
              <a:ext uri="{FF2B5EF4-FFF2-40B4-BE49-F238E27FC236}">
                <a16:creationId xmlns:a16="http://schemas.microsoft.com/office/drawing/2014/main" id="{046A7A2B-851D-4EFF-A8A2-4240F97C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16764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Assets and demand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Report and sensors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Flow network</a:t>
            </a:r>
          </a:p>
        </p:txBody>
      </p:sp>
      <p:sp>
        <p:nvSpPr>
          <p:cNvPr id="16" name="architecture-3-surface">
            <a:extLst xmlns:a="http://schemas.openxmlformats.org/drawingml/2006/main">
              <a:ext uri="{FF2B5EF4-FFF2-40B4-BE49-F238E27FC236}">
                <a16:creationId xmlns:a16="http://schemas.microsoft.com/office/drawing/2014/main" id="{C40D655D-6417-4465-AD04-A0FD3DCA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457450"/>
            <a:ext cx="20193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architecture-3-accent">
            <a:extLst xmlns:a="http://schemas.openxmlformats.org/drawingml/2006/main">
              <a:ext uri="{FF2B5EF4-FFF2-40B4-BE49-F238E27FC236}">
                <a16:creationId xmlns:a16="http://schemas.microsoft.com/office/drawing/2014/main" id="{7B30883F-7B76-49A5-8712-2C7EB60C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457450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rchitecture-3-title">
            <a:extLst xmlns:a="http://schemas.openxmlformats.org/drawingml/2006/main">
              <a:ext uri="{FF2B5EF4-FFF2-40B4-BE49-F238E27FC236}">
                <a16:creationId xmlns:a16="http://schemas.microsoft.com/office/drawing/2014/main" id="{CB1E8814-2035-4015-9DC1-5AAEAD5E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638425"/>
            <a:ext cx="1676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Algorithms</a:t>
            </a:r>
          </a:p>
        </p:txBody>
      </p:sp>
      <p:sp>
        <p:nvSpPr>
          <p:cNvPr id="19" name="architecture-3-body">
            <a:extLst xmlns:a="http://schemas.openxmlformats.org/drawingml/2006/main">
              <a:ext uri="{FF2B5EF4-FFF2-40B4-BE49-F238E27FC236}">
                <a16:creationId xmlns:a16="http://schemas.microsoft.com/office/drawing/2014/main" id="{FCC6DADB-56BA-4B06-B422-142160DF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38475"/>
            <a:ext cx="16764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Search and index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DP and graphs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Sampling</a:t>
            </a:r>
          </a:p>
        </p:txBody>
      </p:sp>
      <p:sp>
        <p:nvSpPr>
          <p:cNvPr id="20" name="architecture-4-surface">
            <a:extLst xmlns:a="http://schemas.openxmlformats.org/drawingml/2006/main">
              <a:ext uri="{FF2B5EF4-FFF2-40B4-BE49-F238E27FC236}">
                <a16:creationId xmlns:a16="http://schemas.microsoft.com/office/drawing/2014/main" id="{BEC12C6A-0639-4BBA-B973-B62628C8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57450"/>
            <a:ext cx="20193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architecture-4-accent">
            <a:extLst xmlns:a="http://schemas.openxmlformats.org/drawingml/2006/main">
              <a:ext uri="{FF2B5EF4-FFF2-40B4-BE49-F238E27FC236}">
                <a16:creationId xmlns:a16="http://schemas.microsoft.com/office/drawing/2014/main" id="{4F13C443-BD6B-4441-8FEC-48FCCAA2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57450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4-title">
            <a:extLst xmlns:a="http://schemas.openxmlformats.org/drawingml/2006/main">
              <a:ext uri="{FF2B5EF4-FFF2-40B4-BE49-F238E27FC236}">
                <a16:creationId xmlns:a16="http://schemas.microsoft.com/office/drawing/2014/main" id="{F98F127E-E728-4D86-A705-F689167F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38425"/>
            <a:ext cx="1676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Output</a:t>
            </a:r>
          </a:p>
        </p:txBody>
      </p:sp>
      <p:sp>
        <p:nvSpPr>
          <p:cNvPr id="23" name="architecture-4-body">
            <a:extLst xmlns:a="http://schemas.openxmlformats.org/drawingml/2006/main">
              <a:ext uri="{FF2B5EF4-FFF2-40B4-BE49-F238E27FC236}">
                <a16:creationId xmlns:a16="http://schemas.microsoft.com/office/drawing/2014/main" id="{24E3F27B-2BC5-45EA-85F9-53178691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38475"/>
            <a:ext cx="16764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Matches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Computed totals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Printed results</a:t>
            </a:r>
          </a:p>
        </p:txBody>
      </p:sp>
      <p:cxnSp>
        <p:nvCxnSpPr>
          <p:cNvPr id="24" name="architecture-flow-0">
            <a:extLst xmlns:a="http://schemas.openxmlformats.org/drawingml/2006/main">
              <a:ext uri="{FF2B5EF4-FFF2-40B4-BE49-F238E27FC236}">
                <a16:creationId xmlns:a16="http://schemas.microsoft.com/office/drawing/2014/main" id="{D4E1786F-6FF8-42BA-8826-6A3982B5E3E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743200" y="3529013"/>
            <a:ext cx="666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5" name="architecture-flow-1">
            <a:extLst xmlns:a="http://schemas.openxmlformats.org/drawingml/2006/main">
              <a:ext uri="{FF2B5EF4-FFF2-40B4-BE49-F238E27FC236}">
                <a16:creationId xmlns:a16="http://schemas.microsoft.com/office/drawing/2014/main" id="{855ACEAB-5AE9-4FA5-A98F-B8DB97A7EF6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943475" y="3529013"/>
            <a:ext cx="666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6" name="architecture-flow-2">
            <a:extLst xmlns:a="http://schemas.openxmlformats.org/drawingml/2006/main">
              <a:ext uri="{FF2B5EF4-FFF2-40B4-BE49-F238E27FC236}">
                <a16:creationId xmlns:a16="http://schemas.microsoft.com/office/drawing/2014/main" id="{80AA1E9D-E50D-424D-9B5B-F0DF4CE1DE5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143750" y="3529013"/>
            <a:ext cx="666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7" name="architecture-flow-3">
            <a:extLst xmlns:a="http://schemas.openxmlformats.org/drawingml/2006/main">
              <a:ext uri="{FF2B5EF4-FFF2-40B4-BE49-F238E27FC236}">
                <a16:creationId xmlns:a16="http://schemas.microsoft.com/office/drawing/2014/main" id="{87821428-7826-46A6-98C2-C8225135991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344025" y="3529013"/>
            <a:ext cx="666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8" name="architecture-note">
            <a:extLst xmlns:a="http://schemas.openxmlformats.org/drawingml/2006/main">
              <a:ext uri="{FF2B5EF4-FFF2-40B4-BE49-F238E27FC236}">
                <a16:creationId xmlns:a16="http://schemas.microsoft.com/office/drawing/2014/main" id="{865D3CF8-73A3-4B9B-8DC3-A6CA87C0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0429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The current app holds its examples in memory. It has no database, browser interface, or saved records.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46F1ACB-9BE8-4490-864E-25D84119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C8D9CA8A-6514-47B7-A918-E3E455DF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3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8D02D1F-D270-4D74-BA82-275EE6A4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984460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F814C18-5F17-4E10-AC59-2428CA43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M1 · CO1 / STRING ALGORITHMS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E22EE5-391C-440F-B503-90FD8B19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Search water reports and asset IDs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14027E1-EAAD-45D1-AB6F-8D00E959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A typed term scans the quality report and asset list; fixed keywords flag alerts.</a:t>
            </a:r>
          </a:p>
        </p:txBody>
      </p:sp>
      <p:sp>
        <p:nvSpPr>
          <p:cNvPr id="4" name="method-heading">
            <a:extLst xmlns:a="http://schemas.openxmlformats.org/drawingml/2006/main">
              <a:ext uri="{FF2B5EF4-FFF2-40B4-BE49-F238E27FC236}">
                <a16:creationId xmlns:a16="http://schemas.microsoft.com/office/drawing/2014/main" id="{B43CA700-614E-470C-8D6A-A69B40F1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METHOD</a:t>
            </a:r>
          </a:p>
        </p:txBody>
      </p:sp>
      <p:sp>
        <p:nvSpPr>
          <p:cNvPr id="5" name="role-heading">
            <a:extLst xmlns:a="http://schemas.openxmlformats.org/drawingml/2006/main">
              <a:ext uri="{FF2B5EF4-FFF2-40B4-BE49-F238E27FC236}">
                <a16:creationId xmlns:a16="http://schemas.microsoft.com/office/drawing/2014/main" id="{A0D400B0-7576-4C7E-95D6-E1A324D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383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WHERE IT HELPS</a:t>
            </a:r>
          </a:p>
        </p:txBody>
      </p:sp>
      <p:sp>
        <p:nvSpPr>
          <p:cNvPr id="6" name="table-header-rule">
            <a:extLst xmlns:a="http://schemas.openxmlformats.org/drawingml/2006/main">
              <a:ext uri="{FF2B5EF4-FFF2-40B4-BE49-F238E27FC236}">
                <a16:creationId xmlns:a16="http://schemas.microsoft.com/office/drawing/2014/main" id="{05D7D153-836E-4135-BEB2-821AABC4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172A"/>
            </a:solidFill>
            <a:prstDash val="solid"/>
          </a:ln>
        </p:spPr>
      </p:sp>
      <p:sp>
        <p:nvSpPr>
          <p:cNvPr id="7" name="m1-algorithm-0">
            <a:extLst xmlns:a="http://schemas.openxmlformats.org/drawingml/2006/main">
              <a:ext uri="{FF2B5EF4-FFF2-40B4-BE49-F238E27FC236}">
                <a16:creationId xmlns:a16="http://schemas.microsoft.com/office/drawing/2014/main" id="{B3C1F844-42DB-47AB-833A-9C75EF37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290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KMP</a:t>
            </a:r>
          </a:p>
        </p:txBody>
      </p:sp>
      <p:sp>
        <p:nvSpPr>
          <p:cNvPr id="8" name="m1-purpose-0">
            <a:extLst xmlns:a="http://schemas.openxmlformats.org/drawingml/2006/main">
              <a:ext uri="{FF2B5EF4-FFF2-40B4-BE49-F238E27FC236}">
                <a16:creationId xmlns:a16="http://schemas.microsoft.com/office/drawing/2014/main" id="{5AB2008D-2AF4-4919-AA0F-5E107EE1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533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Find the typed term in the sample quality report.</a:t>
            </a:r>
          </a:p>
        </p:txBody>
      </p:sp>
      <p:sp>
        <p:nvSpPr>
          <p:cNvPr id="9" name="m1-rule-0">
            <a:extLst xmlns:a="http://schemas.openxmlformats.org/drawingml/2006/main">
              <a:ext uri="{FF2B5EF4-FFF2-40B4-BE49-F238E27FC236}">
                <a16:creationId xmlns:a16="http://schemas.microsoft.com/office/drawing/2014/main" id="{602E25DC-F0B3-4664-9157-D2CFF879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m1-algorithm-1">
            <a:extLst xmlns:a="http://schemas.openxmlformats.org/drawingml/2006/main">
              <a:ext uri="{FF2B5EF4-FFF2-40B4-BE49-F238E27FC236}">
                <a16:creationId xmlns:a16="http://schemas.microsoft.com/office/drawing/2014/main" id="{CF0CB041-6593-4022-A280-641DA353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90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Z-function</a:t>
            </a:r>
          </a:p>
        </p:txBody>
      </p:sp>
      <p:sp>
        <p:nvSpPr>
          <p:cNvPr id="11" name="m1-purpose-1">
            <a:extLst xmlns:a="http://schemas.openxmlformats.org/drawingml/2006/main">
              <a:ext uri="{FF2B5EF4-FFF2-40B4-BE49-F238E27FC236}">
                <a16:creationId xmlns:a16="http://schemas.microsoft.com/office/drawing/2014/main" id="{E180D374-FEE4-4AFF-92F2-1B3DD055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432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Show prefix matches for “turbidity” in the report.</a:t>
            </a:r>
          </a:p>
        </p:txBody>
      </p:sp>
      <p:sp>
        <p:nvSpPr>
          <p:cNvPr id="12" name="m1-rule-1">
            <a:extLst xmlns:a="http://schemas.openxmlformats.org/drawingml/2006/main">
              <a:ext uri="{FF2B5EF4-FFF2-40B4-BE49-F238E27FC236}">
                <a16:creationId xmlns:a16="http://schemas.microsoft.com/office/drawing/2014/main" id="{AFAAE1B8-7F99-460A-B9E8-11816560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19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m1-algorithm-2">
            <a:extLst xmlns:a="http://schemas.openxmlformats.org/drawingml/2006/main">
              <a:ext uri="{FF2B5EF4-FFF2-40B4-BE49-F238E27FC236}">
                <a16:creationId xmlns:a16="http://schemas.microsoft.com/office/drawing/2014/main" id="{DBF83B8A-2A41-4F4E-99A8-2428DD52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290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Rabin–Karp</a:t>
            </a:r>
          </a:p>
        </p:txBody>
      </p:sp>
      <p:sp>
        <p:nvSpPr>
          <p:cNvPr id="14" name="m1-purpose-2">
            <a:extLst xmlns:a="http://schemas.openxmlformats.org/drawingml/2006/main">
              <a:ext uri="{FF2B5EF4-FFF2-40B4-BE49-F238E27FC236}">
                <a16:creationId xmlns:a16="http://schemas.microsoft.com/office/drawing/2014/main" id="{6582EAFD-A839-4E77-AFD5-B4D8F5CC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7528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Find the typed term among four asset IDs.</a:t>
            </a:r>
          </a:p>
        </p:txBody>
      </p:sp>
      <p:sp>
        <p:nvSpPr>
          <p:cNvPr id="15" name="m1-rule-2">
            <a:extLst xmlns:a="http://schemas.openxmlformats.org/drawingml/2006/main">
              <a:ext uri="{FF2B5EF4-FFF2-40B4-BE49-F238E27FC236}">
                <a16:creationId xmlns:a16="http://schemas.microsoft.com/office/drawing/2014/main" id="{5D6E64EA-6663-4B7A-A033-3EE0ADA5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m1-algorithm-3">
            <a:extLst xmlns:a="http://schemas.openxmlformats.org/drawingml/2006/main">
              <a:ext uri="{FF2B5EF4-FFF2-40B4-BE49-F238E27FC236}">
                <a16:creationId xmlns:a16="http://schemas.microsoft.com/office/drawing/2014/main" id="{95EA2A2E-404B-4FD3-BE2A-81D8A24F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290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Aho–Corasick</a:t>
            </a:r>
          </a:p>
        </p:txBody>
      </p:sp>
      <p:sp>
        <p:nvSpPr>
          <p:cNvPr id="17" name="m1-purpose-3">
            <a:extLst xmlns:a="http://schemas.openxmlformats.org/drawingml/2006/main">
              <a:ext uri="{FF2B5EF4-FFF2-40B4-BE49-F238E27FC236}">
                <a16:creationId xmlns:a16="http://schemas.microsoft.com/office/drawing/2014/main" id="{A004A6C5-6B2E-4711-B8E3-E3F146F4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3624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Scan for turbidity, chlorine, contamination, and leak.</a:t>
            </a:r>
          </a:p>
        </p:txBody>
      </p:sp>
      <p:sp>
        <p:nvSpPr>
          <p:cNvPr id="18" name="m1-rule-3">
            <a:extLst xmlns:a="http://schemas.openxmlformats.org/drawingml/2006/main">
              <a:ext uri="{FF2B5EF4-FFF2-40B4-BE49-F238E27FC236}">
                <a16:creationId xmlns:a16="http://schemas.microsoft.com/office/drawing/2014/main" id="{0F93DB70-25E0-4EF0-A5A3-22C71D06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member-search-callout">
            <a:extLst xmlns:a="http://schemas.openxmlformats.org/drawingml/2006/main">
              <a:ext uri="{FF2B5EF4-FFF2-40B4-BE49-F238E27FC236}">
                <a16:creationId xmlns:a16="http://schemas.microsoft.com/office/drawing/2014/main" id="{0694ADB1-A081-462C-B5A3-F41E59F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047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ember-search-label">
            <a:extLst xmlns:a="http://schemas.openxmlformats.org/drawingml/2006/main">
              <a:ext uri="{FF2B5EF4-FFF2-40B4-BE49-F238E27FC236}">
                <a16:creationId xmlns:a16="http://schemas.microsoft.com/office/drawing/2014/main" id="{95313E90-2CA8-4CF1-8BD0-F5F845C7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53050"/>
            <a:ext cx="242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05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05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CONSOLE RESULT</a:t>
            </a:r>
          </a:p>
        </p:txBody>
      </p:sp>
      <p:sp>
        <p:nvSpPr>
          <p:cNvPr id="21" name="member-search-copy">
            <a:extLst xmlns:a="http://schemas.openxmlformats.org/drawingml/2006/main">
              <a:ext uri="{FF2B5EF4-FFF2-40B4-BE49-F238E27FC236}">
                <a16:creationId xmlns:a16="http://schemas.microsoft.com/office/drawing/2014/main" id="{59DC42B3-2BA4-4A3B-9A4A-2681832A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995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The sample report contains “turbidity” twice and “chlorine” once; searches return text positions.</a:t>
            </a:r>
          </a:p>
        </p:txBody>
      </p:sp>
      <p:sp>
        <p:nvSpPr>
          <p:cNvPr id="2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A431C00-0A96-4A6F-85AF-5BD44F2D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F10C2DA4-A3FF-4A3B-89C5-5915B730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2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D0B7D5C-1BCA-4F6B-B6F2-F53FD864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094776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97AA9615-C9A2-43E4-AE21-ED1F56D5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M2 · CO2 / SUFFIX STRUCTURES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5353BE-6BB3-4125-BCFD-37A2FD24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Index water-quality report text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3DAA9B7-D03D-4035-8A64-77C86DC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Four report snippets form one text string for suffix-based searches.</a:t>
            </a:r>
          </a:p>
        </p:txBody>
      </p:sp>
      <p:sp>
        <p:nvSpPr>
          <p:cNvPr id="4" name="suffix-stage-0-surface">
            <a:extLst xmlns:a="http://schemas.openxmlformats.org/drawingml/2006/main">
              <a:ext uri="{FF2B5EF4-FFF2-40B4-BE49-F238E27FC236}">
                <a16:creationId xmlns:a16="http://schemas.microsoft.com/office/drawing/2014/main" id="{0CD87046-54DB-4D46-B958-C0FF9F46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22383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suffix-stage-0-accent">
            <a:extLst xmlns:a="http://schemas.openxmlformats.org/drawingml/2006/main">
              <a:ext uri="{FF2B5EF4-FFF2-40B4-BE49-F238E27FC236}">
                <a16:creationId xmlns:a16="http://schemas.microsoft.com/office/drawing/2014/main" id="{45F20944-C3F5-4B2D-8426-7BE6DDE4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uffix-stage-0-title">
            <a:extLst xmlns:a="http://schemas.openxmlformats.org/drawingml/2006/main">
              <a:ext uri="{FF2B5EF4-FFF2-40B4-BE49-F238E27FC236}">
                <a16:creationId xmlns:a16="http://schemas.microsoft.com/office/drawing/2014/main" id="{81B8BED1-9E01-4E13-966F-50356278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Report text</a:t>
            </a:r>
          </a:p>
        </p:txBody>
      </p:sp>
      <p:sp>
        <p:nvSpPr>
          <p:cNvPr id="7" name="suffix-stage-0-body">
            <a:extLst xmlns:a="http://schemas.openxmlformats.org/drawingml/2006/main">
              <a:ext uri="{FF2B5EF4-FFF2-40B4-BE49-F238E27FC236}">
                <a16:creationId xmlns:a16="http://schemas.microsoft.com/office/drawing/2014/main" id="{1FD6C93B-D3EF-47B4-9028-42AAD6CC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Four snippets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joined by $</a:t>
            </a:r>
          </a:p>
        </p:txBody>
      </p:sp>
      <p:sp>
        <p:nvSpPr>
          <p:cNvPr id="8" name="suffix-stage-1-surface">
            <a:extLst xmlns:a="http://schemas.openxmlformats.org/drawingml/2006/main">
              <a:ext uri="{FF2B5EF4-FFF2-40B4-BE49-F238E27FC236}">
                <a16:creationId xmlns:a16="http://schemas.microsoft.com/office/drawing/2014/main" id="{8F734508-0B97-4BE8-A5EB-35983235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43125"/>
            <a:ext cx="22383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suffix-stage-1-accent">
            <a:extLst xmlns:a="http://schemas.openxmlformats.org/drawingml/2006/main">
              <a:ext uri="{FF2B5EF4-FFF2-40B4-BE49-F238E27FC236}">
                <a16:creationId xmlns:a16="http://schemas.microsoft.com/office/drawing/2014/main" id="{3AF8EC89-5AE2-44EF-83F7-074F62D9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43125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uffix-stage-1-title">
            <a:extLst xmlns:a="http://schemas.openxmlformats.org/drawingml/2006/main">
              <a:ext uri="{FF2B5EF4-FFF2-40B4-BE49-F238E27FC236}">
                <a16:creationId xmlns:a16="http://schemas.microsoft.com/office/drawing/2014/main" id="{1E693BE7-8516-4338-9FA1-8D30A747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241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SA-IS array</a:t>
            </a:r>
          </a:p>
        </p:txBody>
      </p:sp>
      <p:sp>
        <p:nvSpPr>
          <p:cNvPr id="11" name="suffix-stage-1-body">
            <a:extLst xmlns:a="http://schemas.openxmlformats.org/drawingml/2006/main">
              <a:ext uri="{FF2B5EF4-FFF2-40B4-BE49-F238E27FC236}">
                <a16:creationId xmlns:a16="http://schemas.microsoft.com/office/drawing/2014/main" id="{0F54570D-98C9-4708-95DF-2E4C77EC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2415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Sorted suffix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positions</a:t>
            </a:r>
          </a:p>
        </p:txBody>
      </p:sp>
      <p:sp>
        <p:nvSpPr>
          <p:cNvPr id="12" name="suffix-stage-2-surface">
            <a:extLst xmlns:a="http://schemas.openxmlformats.org/drawingml/2006/main">
              <a:ext uri="{FF2B5EF4-FFF2-40B4-BE49-F238E27FC236}">
                <a16:creationId xmlns:a16="http://schemas.microsoft.com/office/drawing/2014/main" id="{250ED02C-803A-499E-B238-E2616136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43125"/>
            <a:ext cx="22383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suffix-stage-2-accent">
            <a:extLst xmlns:a="http://schemas.openxmlformats.org/drawingml/2006/main">
              <a:ext uri="{FF2B5EF4-FFF2-40B4-BE49-F238E27FC236}">
                <a16:creationId xmlns:a16="http://schemas.microsoft.com/office/drawing/2014/main" id="{7FCBA317-7286-41CF-AEC0-7425C72B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43125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uffix-stage-2-title">
            <a:extLst xmlns:a="http://schemas.openxmlformats.org/drawingml/2006/main">
              <a:ext uri="{FF2B5EF4-FFF2-40B4-BE49-F238E27FC236}">
                <a16:creationId xmlns:a16="http://schemas.microsoft.com/office/drawing/2014/main" id="{AC9EB823-377E-42AA-BF66-D4CF413B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241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Kasai LCP</a:t>
            </a:r>
          </a:p>
        </p:txBody>
      </p:sp>
      <p:sp>
        <p:nvSpPr>
          <p:cNvPr id="15" name="suffix-stage-2-body">
            <a:extLst xmlns:a="http://schemas.openxmlformats.org/drawingml/2006/main">
              <a:ext uri="{FF2B5EF4-FFF2-40B4-BE49-F238E27FC236}">
                <a16:creationId xmlns:a16="http://schemas.microsoft.com/office/drawing/2014/main" id="{0BC42AEC-07FC-4FB6-B3D4-C5DBEA11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2415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Shared phrase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lengths</a:t>
            </a:r>
          </a:p>
        </p:txBody>
      </p:sp>
      <p:sp>
        <p:nvSpPr>
          <p:cNvPr id="16" name="suffix-stage-3-surface">
            <a:extLst xmlns:a="http://schemas.openxmlformats.org/drawingml/2006/main">
              <a:ext uri="{FF2B5EF4-FFF2-40B4-BE49-F238E27FC236}">
                <a16:creationId xmlns:a16="http://schemas.microsoft.com/office/drawing/2014/main" id="{43C6354B-4AAB-4A25-8192-959D0EAD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143125"/>
            <a:ext cx="22383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suffix-stage-3-accent">
            <a:extLst xmlns:a="http://schemas.openxmlformats.org/drawingml/2006/main">
              <a:ext uri="{FF2B5EF4-FFF2-40B4-BE49-F238E27FC236}">
                <a16:creationId xmlns:a16="http://schemas.microsoft.com/office/drawing/2014/main" id="{1AD602D6-6B37-40DF-98C8-05E575A5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143125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uffix-stage-3-title">
            <a:extLst xmlns:a="http://schemas.openxmlformats.org/drawingml/2006/main">
              <a:ext uri="{FF2B5EF4-FFF2-40B4-BE49-F238E27FC236}">
                <a16:creationId xmlns:a16="http://schemas.microsoft.com/office/drawing/2014/main" id="{B87A6D47-B976-4F0F-AEF6-A0A3E32B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3241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Queries</a:t>
            </a:r>
          </a:p>
        </p:txBody>
      </p:sp>
      <p:sp>
        <p:nvSpPr>
          <p:cNvPr id="19" name="suffix-stage-3-body">
            <a:extLst xmlns:a="http://schemas.openxmlformats.org/drawingml/2006/main">
              <a:ext uri="{FF2B5EF4-FFF2-40B4-BE49-F238E27FC236}">
                <a16:creationId xmlns:a16="http://schemas.microsoft.com/office/drawing/2014/main" id="{B71A8C29-7F47-4861-AAD3-1F76C166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72415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turbidity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PIPE-14</a:t>
            </a:r>
          </a:p>
        </p:txBody>
      </p:sp>
      <p:cxnSp>
        <p:nvCxnSpPr>
          <p:cNvPr id="20" name="suffix-flow-0">
            <a:extLst xmlns:a="http://schemas.openxmlformats.org/drawingml/2006/main">
              <a:ext uri="{FF2B5EF4-FFF2-40B4-BE49-F238E27FC236}">
                <a16:creationId xmlns:a16="http://schemas.microsoft.com/office/drawing/2014/main" id="{C6721007-581F-468B-9952-22FB1F6AEA5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067050" y="2743200"/>
            <a:ext cx="333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1" name="suffix-flow-1">
            <a:extLst xmlns:a="http://schemas.openxmlformats.org/drawingml/2006/main">
              <a:ext uri="{FF2B5EF4-FFF2-40B4-BE49-F238E27FC236}">
                <a16:creationId xmlns:a16="http://schemas.microsoft.com/office/drawing/2014/main" id="{B7B8EC10-93F2-4130-88A3-A9D9DF61A2F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762625" y="2743200"/>
            <a:ext cx="333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2" name="suffix-flow-2">
            <a:extLst xmlns:a="http://schemas.openxmlformats.org/drawingml/2006/main">
              <a:ext uri="{FF2B5EF4-FFF2-40B4-BE49-F238E27FC236}">
                <a16:creationId xmlns:a16="http://schemas.microsoft.com/office/drawing/2014/main" id="{986CB696-4BEA-4E7B-B7C4-82C9ED61398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458200" y="2743200"/>
            <a:ext cx="333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3" name="suffix-detail-title">
            <a:extLst xmlns:a="http://schemas.openxmlformats.org/drawingml/2006/main">
              <a:ext uri="{FF2B5EF4-FFF2-40B4-BE49-F238E27FC236}">
                <a16:creationId xmlns:a16="http://schemas.microsoft.com/office/drawing/2014/main" id="{77F4B408-0D62-4B6D-A70A-874EFEA4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81425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HOW THE INDEX IS USED</a:t>
            </a:r>
          </a:p>
        </p:txBody>
      </p:sp>
      <p:sp>
        <p:nvSpPr>
          <p:cNvPr id="24" name="suffix-detail-copy">
            <a:extLst xmlns:a="http://schemas.openxmlformats.org/drawingml/2006/main">
              <a:ext uri="{FF2B5EF4-FFF2-40B4-BE49-F238E27FC236}">
                <a16:creationId xmlns:a16="http://schemas.microsoft.com/office/drawing/2014/main" id="{87622675-AEE5-4426-A0AC-13548CFB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052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SA-IS orders report positions and Kasai LCP measures repeated text. Phrase lookup builds a separate suffix array with prefix doubling.</a:t>
            </a:r>
          </a:p>
        </p:txBody>
      </p:sp>
      <p:sp>
        <p:nvSpPr>
          <p:cNvPr id="25" name="suffix-example-label">
            <a:extLst xmlns:a="http://schemas.openxmlformats.org/drawingml/2006/main">
              <a:ext uri="{FF2B5EF4-FFF2-40B4-BE49-F238E27FC236}">
                <a16:creationId xmlns:a16="http://schemas.microsoft.com/office/drawing/2014/main" id="{519DA65C-AB9E-437B-8B2B-9C60C6D4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81425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SHARED PHRASE EXAMPLE</a:t>
            </a:r>
          </a:p>
        </p:txBody>
      </p:sp>
      <p:sp>
        <p:nvSpPr>
          <p:cNvPr id="26" name="suffix-example">
            <a:extLst xmlns:a="http://schemas.openxmlformats.org/drawingml/2006/main">
              <a:ext uri="{FF2B5EF4-FFF2-40B4-BE49-F238E27FC236}">
                <a16:creationId xmlns:a16="http://schemas.microsoft.com/office/drawing/2014/main" id="{33B16208-2ABB-49FD-8278-398AEE01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05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F172A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0F172A"/>
                </a:solidFill>
                <a:latin typeface="JetBrains Mono"/>
                <a:ea typeface="JetBrains Mono"/>
                <a:cs typeface="JetBrains Mono"/>
              </a:defRPr>
            </a:pPr>
            <a:r>
              <a:rPr sz="1725" b="1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>Elevated turbidity at RES-01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F172A"/>
                </a:solidFill>
                <a:latin typeface="JetBrains Mono"/>
                <a:ea typeface="JetBrains Mono"/>
                <a:cs typeface="JetBrains Mono"/>
              </a:defRPr>
            </a:pPr>
            <a:r>
              <a:rPr sz="1725" b="1">
                <a:solidFill>
                  <a:srgbClr val="0F172A"/>
                </a:solidFill>
                <a:latin typeface="JetBrains Mono"/>
                <a:ea typeface="JetBrains Mono"/>
                <a:cs typeface="JetBrains Mono"/>
              </a:rPr>
              <a:t>Elevated turbidity observed</a:t>
            </a:r>
          </a:p>
        </p:txBody>
      </p:sp>
      <p:sp>
        <p:nvSpPr>
          <p:cNvPr id="27" name="suffix-example-result">
            <a:extLst xmlns:a="http://schemas.openxmlformats.org/drawingml/2006/main">
              <a:ext uri="{FF2B5EF4-FFF2-40B4-BE49-F238E27FC236}">
                <a16:creationId xmlns:a16="http://schemas.microsoft.com/office/drawing/2014/main" id="{446DF24E-381F-425E-BCBD-68383462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768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D9488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0D9488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0D9488"/>
                </a:solidFill>
                <a:latin typeface="Inter"/>
                <a:ea typeface="Inter"/>
                <a:cs typeface="Inter"/>
              </a:rPr>
              <a:t>Common phrase: “Elevated turbidity”</a:t>
            </a:r>
          </a:p>
        </p:txBody>
      </p:sp>
      <p:sp>
        <p:nvSpPr>
          <p:cNvPr id="28" name="suffix-caveat">
            <a:extLst xmlns:a="http://schemas.openxmlformats.org/drawingml/2006/main">
              <a:ext uri="{FF2B5EF4-FFF2-40B4-BE49-F238E27FC236}">
                <a16:creationId xmlns:a16="http://schemas.microsoft.com/office/drawing/2014/main" id="{456F1072-6FAD-43E7-958C-F1DAE49A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72100"/>
            <a:ext cx="10477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uffix-caveat-text">
            <a:extLst xmlns:a="http://schemas.openxmlformats.org/drawingml/2006/main">
              <a:ext uri="{FF2B5EF4-FFF2-40B4-BE49-F238E27FC236}">
                <a16:creationId xmlns:a16="http://schemas.microsoft.com/office/drawing/2014/main" id="{26883138-E080-443B-90BD-98BEAA74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149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Current limit: SA-IS works on the demo text but can fail on other inputs. The search routine uses prefix doubling.</a:t>
            </a:r>
          </a:p>
        </p:txBody>
      </p:sp>
      <p:sp>
        <p:nvSpPr>
          <p:cNvPr id="3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B1C7F7D-1073-4B01-A370-560FBC7B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05A400E1-2CC5-41D5-9E96-7A3579C8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3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30A58B-C9D9-4516-A436-2BA07B41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45259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98A453DF-3119-445B-9532-E6C33224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M3 · CO3 / ADVANCED DYNAMIC PROGRAMMING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753568-5DCE-495B-8322-A2AA2D72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Plan treatment and correct entries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E710C46-C21F-4247-BFC5-A72D7F35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Fixed examples show budget selection, matrix ordering, lookup cost, and typo distance.</a:t>
            </a:r>
          </a:p>
        </p:txBody>
      </p:sp>
      <p:sp>
        <p:nvSpPr>
          <p:cNvPr id="4" name="dp-divider">
            <a:extLst xmlns:a="http://schemas.openxmlformats.org/drawingml/2006/main">
              <a:ext uri="{FF2B5EF4-FFF2-40B4-BE49-F238E27FC236}">
                <a16:creationId xmlns:a16="http://schemas.microsoft.com/office/drawing/2014/main" id="{484B7036-DC3F-48E9-8F84-AFFDD52B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0" cy="3581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dp-live-label">
            <a:extLst xmlns:a="http://schemas.openxmlformats.org/drawingml/2006/main">
              <a:ext uri="{FF2B5EF4-FFF2-40B4-BE49-F238E27FC236}">
                <a16:creationId xmlns:a16="http://schemas.microsoft.com/office/drawing/2014/main" id="{0DF2C205-EA6F-4F99-9F57-A98F6B15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524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CONNECTED TO PLANNING</a:t>
            </a:r>
          </a:p>
        </p:txBody>
      </p:sp>
      <p:sp>
        <p:nvSpPr>
          <p:cNvPr id="6" name="dp-live-title">
            <a:extLst xmlns:a="http://schemas.openxmlformats.org/drawingml/2006/main">
              <a:ext uri="{FF2B5EF4-FFF2-40B4-BE49-F238E27FC236}">
                <a16:creationId xmlns:a16="http://schemas.microsoft.com/office/drawing/2014/main" id="{AD5B7D6F-3A01-4DD3-91F0-0ADA1B46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193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Treatment selection</a:t>
            </a:r>
          </a:p>
        </p:txBody>
      </p:sp>
      <p:sp>
        <p:nvSpPr>
          <p:cNvPr id="7" name="dp-flow-1">
            <a:extLst xmlns:a="http://schemas.openxmlformats.org/drawingml/2006/main">
              <a:ext uri="{FF2B5EF4-FFF2-40B4-BE49-F238E27FC236}">
                <a16:creationId xmlns:a16="http://schemas.microsoft.com/office/drawing/2014/main" id="{C2DD75BB-1B39-4B0F-8D53-999154A2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Four unit costs</a:t>
            </a:r>
          </a:p>
        </p:txBody>
      </p:sp>
      <p:cxnSp>
        <p:nvCxnSpPr>
          <p:cNvPr id="8" name="dp-flow-arrow-1">
            <a:extLst xmlns:a="http://schemas.openxmlformats.org/drawingml/2006/main">
              <a:ext uri="{FF2B5EF4-FFF2-40B4-BE49-F238E27FC236}">
                <a16:creationId xmlns:a16="http://schemas.microsoft.com/office/drawing/2014/main" id="{F9192730-94EF-48A4-8560-79F9CA4B349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647950" y="3314700"/>
            <a:ext cx="7810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9" name="dp-flow-2">
            <a:extLst xmlns:a="http://schemas.openxmlformats.org/drawingml/2006/main">
              <a:ext uri="{FF2B5EF4-FFF2-40B4-BE49-F238E27FC236}">
                <a16:creationId xmlns:a16="http://schemas.microsoft.com/office/drawing/2014/main" id="{38223650-F1AB-4FEF-9BBB-DDA576D5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52775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Check budget 12</a:t>
            </a:r>
          </a:p>
        </p:txBody>
      </p:sp>
      <p:cxnSp>
        <p:nvCxnSpPr>
          <p:cNvPr id="10" name="dp-flow-arrow-2">
            <a:extLst xmlns:a="http://schemas.openxmlformats.org/drawingml/2006/main">
              <a:ext uri="{FF2B5EF4-FFF2-40B4-BE49-F238E27FC236}">
                <a16:creationId xmlns:a16="http://schemas.microsoft.com/office/drawing/2014/main" id="{3E3BA4BD-49F6-4A72-BC52-3ED03084DF0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667000" y="3724275"/>
            <a:ext cx="762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1" name="dp-flow-3">
            <a:extLst xmlns:a="http://schemas.openxmlformats.org/drawingml/2006/main">
              <a:ext uri="{FF2B5EF4-FFF2-40B4-BE49-F238E27FC236}">
                <a16:creationId xmlns:a16="http://schemas.microsoft.com/office/drawing/2014/main" id="{38DB5931-DB2C-4084-B156-A2327DBE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D9488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D9488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D9488"/>
                </a:solidFill>
                <a:latin typeface="Inter"/>
                <a:ea typeface="Inter"/>
                <a:cs typeface="Inter"/>
              </a:rPr>
              <a:t>Choose 3 treatment units</a:t>
            </a:r>
          </a:p>
        </p:txBody>
      </p:sp>
      <p:sp>
        <p:nvSpPr>
          <p:cNvPr id="12" name="dp-live-body">
            <a:extLst xmlns:a="http://schemas.openxmlformats.org/drawingml/2006/main">
              <a:ext uri="{FF2B5EF4-FFF2-40B4-BE49-F238E27FC236}">
                <a16:creationId xmlns:a16="http://schemas.microsoft.com/office/drawing/2014/main" id="{A3AC5FB7-42F5-43B8-AEC4-78F61F9F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Bitmask DP checks every combination and selects the largest affordable set.</a:t>
            </a:r>
          </a:p>
        </p:txBody>
      </p:sp>
      <p:sp>
        <p:nvSpPr>
          <p:cNvPr id="13" name="dp-utilities-label">
            <a:extLst xmlns:a="http://schemas.openxmlformats.org/drawingml/2006/main">
              <a:ext uri="{FF2B5EF4-FFF2-40B4-BE49-F238E27FC236}">
                <a16:creationId xmlns:a16="http://schemas.microsoft.com/office/drawing/2014/main" id="{F9551539-9828-49D9-974F-3D2E53BC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76450"/>
            <a:ext cx="481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OTHER METHODS IN THE MENU</a:t>
            </a:r>
          </a:p>
        </p:txBody>
      </p:sp>
      <p:sp>
        <p:nvSpPr>
          <p:cNvPr id="14" name="dp-utilities-title">
            <a:extLst xmlns:a="http://schemas.openxmlformats.org/drawingml/2006/main">
              <a:ext uri="{FF2B5EF4-FFF2-40B4-BE49-F238E27FC236}">
                <a16:creationId xmlns:a16="http://schemas.microsoft.com/office/drawing/2014/main" id="{6944C06A-D8DA-4079-8A01-4FCC6458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19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Dynamic programming examples</a:t>
            </a:r>
          </a:p>
        </p:txBody>
      </p:sp>
      <p:sp>
        <p:nvSpPr>
          <p:cNvPr id="15" name="dp-bullet-0">
            <a:extLst xmlns:a="http://schemas.openxmlformats.org/drawingml/2006/main">
              <a:ext uri="{FF2B5EF4-FFF2-40B4-BE49-F238E27FC236}">
                <a16:creationId xmlns:a16="http://schemas.microsoft.com/office/drawing/2014/main" id="{B57B245B-AF27-41BD-81F0-22FDA9FC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14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-util-0">
            <a:extLst xmlns:a="http://schemas.openxmlformats.org/drawingml/2006/main">
              <a:ext uri="{FF2B5EF4-FFF2-40B4-BE49-F238E27FC236}">
                <a16:creationId xmlns:a16="http://schemas.microsoft.com/office/drawing/2014/main" id="{49CED27F-EB95-49D2-8F5E-EB3C6C3C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480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Damerau–Levenshtein — “turbidty” is 1 edit away</a:t>
            </a:r>
          </a:p>
        </p:txBody>
      </p:sp>
      <p:sp>
        <p:nvSpPr>
          <p:cNvPr id="17" name="dp-bullet-1">
            <a:extLst xmlns:a="http://schemas.openxmlformats.org/drawingml/2006/main">
              <a:ext uri="{FF2B5EF4-FFF2-40B4-BE49-F238E27FC236}">
                <a16:creationId xmlns:a16="http://schemas.microsoft.com/office/drawing/2014/main" id="{B7A2669C-D975-400D-BDB0-6D2CD665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86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-util-1">
            <a:extLst xmlns:a="http://schemas.openxmlformats.org/drawingml/2006/main">
              <a:ext uri="{FF2B5EF4-FFF2-40B4-BE49-F238E27FC236}">
                <a16:creationId xmlns:a16="http://schemas.microsoft.com/office/drawing/2014/main" id="{78F80897-95DB-4B5D-8B53-44BCDFA6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195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Matrix-chain DP — 15,125 multiplications in the sample</a:t>
            </a:r>
          </a:p>
        </p:txBody>
      </p:sp>
      <p:sp>
        <p:nvSpPr>
          <p:cNvPr id="19" name="dp-bullet-2">
            <a:extLst xmlns:a="http://schemas.openxmlformats.org/drawingml/2006/main">
              <a:ext uri="{FF2B5EF4-FFF2-40B4-BE49-F238E27FC236}">
                <a16:creationId xmlns:a16="http://schemas.microsoft.com/office/drawing/2014/main" id="{86E6AFFF-22F2-46DF-875C-AC5CA413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57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p-util-2">
            <a:extLst xmlns:a="http://schemas.openxmlformats.org/drawingml/2006/main">
              <a:ext uri="{FF2B5EF4-FFF2-40B4-BE49-F238E27FC236}">
                <a16:creationId xmlns:a16="http://schemas.microsoft.com/office/drawing/2014/main" id="{C63CE9ED-7DDE-4310-B110-DC2B66B7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910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Optimal BST — cost 166 for four access frequencies</a:t>
            </a:r>
          </a:p>
        </p:txBody>
      </p:sp>
      <p:sp>
        <p:nvSpPr>
          <p:cNvPr id="21" name="dp-bullet-3">
            <a:extLst xmlns:a="http://schemas.openxmlformats.org/drawingml/2006/main">
              <a:ext uri="{FF2B5EF4-FFF2-40B4-BE49-F238E27FC236}">
                <a16:creationId xmlns:a16="http://schemas.microsoft.com/office/drawing/2014/main" id="{B40041DB-855E-4619-B027-FE9B2052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dp-util-3">
            <a:extLst xmlns:a="http://schemas.openxmlformats.org/drawingml/2006/main">
              <a:ext uri="{FF2B5EF4-FFF2-40B4-BE49-F238E27FC236}">
                <a16:creationId xmlns:a16="http://schemas.microsoft.com/office/drawing/2014/main" id="{8AD8E9E1-D002-427E-9647-81349592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625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Levenshtein — insertions, deletions and substitutions</a:t>
            </a:r>
          </a:p>
        </p:txBody>
      </p:sp>
      <p:sp>
        <p:nvSpPr>
          <p:cNvPr id="23" name="dp-utility-caveat">
            <a:extLst xmlns:a="http://schemas.openxmlformats.org/drawingml/2006/main">
              <a:ext uri="{FF2B5EF4-FFF2-40B4-BE49-F238E27FC236}">
                <a16:creationId xmlns:a16="http://schemas.microsoft.com/office/drawing/2014/main" id="{636D83B5-F08B-46B7-A029-7D8F2447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102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These calculations use fixed values in the console; they do not update treatment schedules.</a:t>
            </a:r>
          </a:p>
        </p:txBody>
      </p:sp>
      <p:sp>
        <p:nvSpPr>
          <p:cNvPr id="2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A75481C-37D6-44A1-9438-6173844C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06AAB13-E13F-4922-9953-2A620AA3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2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DFE304F-BDEC-4712-9261-33432930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37856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49842719-CF6E-486C-BF19-7E3FC604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M4 · CO4 / NETWORK 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42EF32-069D-4E15-B8D7-388BE8E8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Measure flow and assign operators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91E432B-2F0C-4318-8F38-8B9369A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Two max-flow methods agree on the sample network; matching assigns treatment operators.</a:t>
            </a:r>
          </a:p>
        </p:txBody>
      </p:sp>
      <p:sp>
        <p:nvSpPr>
          <p:cNvPr id="4" name="m4-review-heading">
            <a:extLst xmlns:a="http://schemas.openxmlformats.org/drawingml/2006/main">
              <a:ext uri="{FF2B5EF4-FFF2-40B4-BE49-F238E27FC236}">
                <a16:creationId xmlns:a16="http://schemas.microsoft.com/office/drawing/2014/main" id="{16166727-4006-4EE0-88E0-75FF1CE4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OPERATOR MATCHING</a:t>
            </a:r>
          </a:p>
        </p:txBody>
      </p:sp>
      <p:sp>
        <p:nvSpPr>
          <p:cNvPr id="5" name="m4-review-sub">
            <a:extLst xmlns:a="http://schemas.openxmlformats.org/drawingml/2006/main">
              <a:ext uri="{FF2B5EF4-FFF2-40B4-BE49-F238E27FC236}">
                <a16:creationId xmlns:a16="http://schemas.microsoft.com/office/drawing/2014/main" id="{E01B22C8-969A-4691-87CB-BBE01603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288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Eligible operators ↔ treatment units</a:t>
            </a:r>
          </a:p>
        </p:txBody>
      </p:sp>
      <p:sp>
        <p:nvSpPr>
          <p:cNvPr id="6" name="reviewer-0">
            <a:extLst xmlns:a="http://schemas.openxmlformats.org/drawingml/2006/main">
              <a:ext uri="{FF2B5EF4-FFF2-40B4-BE49-F238E27FC236}">
                <a16:creationId xmlns:a16="http://schemas.microsoft.com/office/drawing/2014/main" id="{F61BEC7A-A239-4C80-824C-327B23EB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Operator 1</a:t>
            </a:r>
          </a:p>
        </p:txBody>
      </p:sp>
      <p:sp>
        <p:nvSpPr>
          <p:cNvPr id="7" name="review-edge-0">
            <a:extLst xmlns:a="http://schemas.openxmlformats.org/drawingml/2006/main">
              <a:ext uri="{FF2B5EF4-FFF2-40B4-BE49-F238E27FC236}">
                <a16:creationId xmlns:a16="http://schemas.microsoft.com/office/drawing/2014/main" id="{46034B5D-7B47-4729-B8EA-442CB5EF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181350"/>
            <a:ext cx="93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D9488"/>
            </a:solidFill>
            <a:prstDash val="solid"/>
          </a:ln>
        </p:spPr>
      </p:sp>
      <p:sp>
        <p:nvSpPr>
          <p:cNvPr id="8" name="review-paper-0">
            <a:extLst xmlns:a="http://schemas.openxmlformats.org/drawingml/2006/main">
              <a:ext uri="{FF2B5EF4-FFF2-40B4-BE49-F238E27FC236}">
                <a16:creationId xmlns:a16="http://schemas.microsoft.com/office/drawing/2014/main" id="{420ACD5E-731F-4FC6-B10F-8EFB6662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0289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Unit B</a:t>
            </a:r>
          </a:p>
        </p:txBody>
      </p:sp>
      <p:sp>
        <p:nvSpPr>
          <p:cNvPr id="9" name="reviewer-1">
            <a:extLst xmlns:a="http://schemas.openxmlformats.org/drawingml/2006/main">
              <a:ext uri="{FF2B5EF4-FFF2-40B4-BE49-F238E27FC236}">
                <a16:creationId xmlns:a16="http://schemas.microsoft.com/office/drawing/2014/main" id="{041808F7-F805-4D18-8F53-38D50286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480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Operator 2</a:t>
            </a:r>
          </a:p>
        </p:txBody>
      </p:sp>
      <p:sp>
        <p:nvSpPr>
          <p:cNvPr id="10" name="review-edge-1">
            <a:extLst xmlns:a="http://schemas.openxmlformats.org/drawingml/2006/main">
              <a:ext uri="{FF2B5EF4-FFF2-40B4-BE49-F238E27FC236}">
                <a16:creationId xmlns:a16="http://schemas.microsoft.com/office/drawing/2014/main" id="{13BC05E9-291E-4CF0-9ADD-A00C539B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800475"/>
            <a:ext cx="93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4CC16"/>
            </a:solidFill>
            <a:prstDash val="solid"/>
          </a:ln>
        </p:spPr>
      </p:sp>
      <p:sp>
        <p:nvSpPr>
          <p:cNvPr id="11" name="review-paper-1">
            <a:extLst xmlns:a="http://schemas.openxmlformats.org/drawingml/2006/main">
              <a:ext uri="{FF2B5EF4-FFF2-40B4-BE49-F238E27FC236}">
                <a16:creationId xmlns:a16="http://schemas.microsoft.com/office/drawing/2014/main" id="{6ABC6CB8-CA54-4F5B-BB42-FF9349CD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48075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Unit A</a:t>
            </a:r>
          </a:p>
        </p:txBody>
      </p:sp>
      <p:sp>
        <p:nvSpPr>
          <p:cNvPr id="12" name="reviewer-2">
            <a:extLst xmlns:a="http://schemas.openxmlformats.org/drawingml/2006/main">
              <a:ext uri="{FF2B5EF4-FFF2-40B4-BE49-F238E27FC236}">
                <a16:creationId xmlns:a16="http://schemas.microsoft.com/office/drawing/2014/main" id="{2750DAC3-4DE8-4DF5-8682-6DE62AA6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672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Operator 3</a:t>
            </a:r>
          </a:p>
        </p:txBody>
      </p:sp>
      <p:sp>
        <p:nvSpPr>
          <p:cNvPr id="13" name="review-edge-2">
            <a:extLst xmlns:a="http://schemas.openxmlformats.org/drawingml/2006/main">
              <a:ext uri="{FF2B5EF4-FFF2-40B4-BE49-F238E27FC236}">
                <a16:creationId xmlns:a16="http://schemas.microsoft.com/office/drawing/2014/main" id="{9CEB74F4-042E-4E00-912A-A96D9CC7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419600"/>
            <a:ext cx="93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D9488"/>
            </a:solidFill>
            <a:prstDash val="solid"/>
          </a:ln>
        </p:spPr>
      </p:sp>
      <p:sp>
        <p:nvSpPr>
          <p:cNvPr id="14" name="review-paper-2">
            <a:extLst xmlns:a="http://schemas.openxmlformats.org/drawingml/2006/main">
              <a:ext uri="{FF2B5EF4-FFF2-40B4-BE49-F238E27FC236}">
                <a16:creationId xmlns:a16="http://schemas.microsoft.com/office/drawing/2014/main" id="{53ED1255-4B3E-436F-A9B6-513CDEC4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26720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Unit C</a:t>
            </a:r>
          </a:p>
        </p:txBody>
      </p:sp>
      <p:sp>
        <p:nvSpPr>
          <p:cNvPr id="15" name="m4-review-note">
            <a:extLst xmlns:a="http://schemas.openxmlformats.org/drawingml/2006/main">
              <a:ext uri="{FF2B5EF4-FFF2-40B4-BE49-F238E27FC236}">
                <a16:creationId xmlns:a16="http://schemas.microsoft.com/office/drawing/2014/main" id="{7CD70B2F-A69B-4873-B31D-AF06B02C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Bipartite matching assigns all 3 operators to eligible units in the sample.</a:t>
            </a:r>
          </a:p>
        </p:txBody>
      </p:sp>
      <p:sp>
        <p:nvSpPr>
          <p:cNvPr id="16" name="m4-divider">
            <a:extLst xmlns:a="http://schemas.openxmlformats.org/drawingml/2006/main">
              <a:ext uri="{FF2B5EF4-FFF2-40B4-BE49-F238E27FC236}">
                <a16:creationId xmlns:a16="http://schemas.microsoft.com/office/drawing/2014/main" id="{996946AF-F6C7-4BC7-AF98-89BF4CF2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0" cy="3638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m4-flow-heading">
            <a:extLst xmlns:a="http://schemas.openxmlformats.org/drawingml/2006/main">
              <a:ext uri="{FF2B5EF4-FFF2-40B4-BE49-F238E27FC236}">
                <a16:creationId xmlns:a16="http://schemas.microsoft.com/office/drawing/2014/main" id="{21B06A95-4BD9-4AED-86ED-39ADB168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WATER ROUTING</a:t>
            </a:r>
          </a:p>
        </p:txBody>
      </p:sp>
      <p:sp>
        <p:nvSpPr>
          <p:cNvPr id="18" name="flow-library">
            <a:extLst xmlns:a="http://schemas.openxmlformats.org/drawingml/2006/main">
              <a:ext uri="{FF2B5EF4-FFF2-40B4-BE49-F238E27FC236}">
                <a16:creationId xmlns:a16="http://schemas.microsoft.com/office/drawing/2014/main" id="{94A7579B-153D-4C90-AA2A-2A101A9B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24200"/>
            <a:ext cx="1381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low-service-a">
            <a:extLst xmlns:a="http://schemas.openxmlformats.org/drawingml/2006/main">
              <a:ext uri="{FF2B5EF4-FFF2-40B4-BE49-F238E27FC236}">
                <a16:creationId xmlns:a16="http://schemas.microsoft.com/office/drawing/2014/main" id="{20DD2249-75B8-4594-B454-C9D45BBE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1381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flow-service-b">
            <a:extLst xmlns:a="http://schemas.openxmlformats.org/drawingml/2006/main">
              <a:ext uri="{FF2B5EF4-FFF2-40B4-BE49-F238E27FC236}">
                <a16:creationId xmlns:a16="http://schemas.microsoft.com/office/drawing/2014/main" id="{8EA9D775-02B3-4C6C-8105-7DE2C172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14750"/>
            <a:ext cx="1381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flow-destination">
            <a:extLst xmlns:a="http://schemas.openxmlformats.org/drawingml/2006/main">
              <a:ext uri="{FF2B5EF4-FFF2-40B4-BE49-F238E27FC236}">
                <a16:creationId xmlns:a16="http://schemas.microsoft.com/office/drawing/2014/main" id="{5BB96DC5-39C4-41F8-9F48-9F67191E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124200"/>
            <a:ext cx="1190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low-library-text">
            <a:extLst xmlns:a="http://schemas.openxmlformats.org/drawingml/2006/main">
              <a:ext uri="{FF2B5EF4-FFF2-40B4-BE49-F238E27FC236}">
                <a16:creationId xmlns:a16="http://schemas.microsoft.com/office/drawing/2014/main" id="{A864FA86-EB6F-4584-B31F-1B6C60AB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861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Reservoir</a:t>
            </a:r>
          </a:p>
        </p:txBody>
      </p:sp>
      <p:sp>
        <p:nvSpPr>
          <p:cNvPr id="23" name="flow-service-a-text">
            <a:extLst xmlns:a="http://schemas.openxmlformats.org/drawingml/2006/main">
              <a:ext uri="{FF2B5EF4-FFF2-40B4-BE49-F238E27FC236}">
                <a16:creationId xmlns:a16="http://schemas.microsoft.com/office/drawing/2014/main" id="{FFD7E6D6-E12C-48B8-9435-CD36E933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194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Path A</a:t>
            </a:r>
          </a:p>
        </p:txBody>
      </p:sp>
      <p:sp>
        <p:nvSpPr>
          <p:cNvPr id="24" name="flow-service-b-text">
            <a:extLst xmlns:a="http://schemas.openxmlformats.org/drawingml/2006/main">
              <a:ext uri="{FF2B5EF4-FFF2-40B4-BE49-F238E27FC236}">
                <a16:creationId xmlns:a16="http://schemas.microsoft.com/office/drawing/2014/main" id="{C24EA085-0E02-486A-9447-4A559D81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8671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Path B</a:t>
            </a:r>
          </a:p>
        </p:txBody>
      </p:sp>
      <p:sp>
        <p:nvSpPr>
          <p:cNvPr id="25" name="flow-dest-text">
            <a:extLst xmlns:a="http://schemas.openxmlformats.org/drawingml/2006/main">
              <a:ext uri="{FF2B5EF4-FFF2-40B4-BE49-F238E27FC236}">
                <a16:creationId xmlns:a16="http://schemas.microsoft.com/office/drawing/2014/main" id="{1D213A40-A1D4-4257-B912-61ABEE51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286125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Demand</a:t>
            </a:r>
          </a:p>
        </p:txBody>
      </p:sp>
      <p:cxnSp>
        <p:nvCxnSpPr>
          <p:cNvPr id="26" name="flow-edge-a">
            <a:extLst xmlns:a="http://schemas.openxmlformats.org/drawingml/2006/main">
              <a:ext uri="{FF2B5EF4-FFF2-40B4-BE49-F238E27FC236}">
                <a16:creationId xmlns:a16="http://schemas.microsoft.com/office/drawing/2014/main" id="{248B08C2-4AAF-4A9D-8522-DD72A2E15CB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7991475" y="2952750"/>
            <a:ext cx="600075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7" name="flow-edge-b">
            <a:extLst xmlns:a="http://schemas.openxmlformats.org/drawingml/2006/main">
              <a:ext uri="{FF2B5EF4-FFF2-40B4-BE49-F238E27FC236}">
                <a16:creationId xmlns:a16="http://schemas.microsoft.com/office/drawing/2014/main" id="{E781EF71-18F5-4939-AC10-27443C10FEC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991475" y="3543300"/>
            <a:ext cx="600075" cy="457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8" name="flow-edge-c">
            <a:extLst xmlns:a="http://schemas.openxmlformats.org/drawingml/2006/main">
              <a:ext uri="{FF2B5EF4-FFF2-40B4-BE49-F238E27FC236}">
                <a16:creationId xmlns:a16="http://schemas.microsoft.com/office/drawing/2014/main" id="{E61625BD-ED34-4239-AC6B-2E2BDA939F0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115550" y="2952750"/>
            <a:ext cx="17145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9" name="flow-edge-d">
            <a:extLst xmlns:a="http://schemas.openxmlformats.org/drawingml/2006/main">
              <a:ext uri="{FF2B5EF4-FFF2-40B4-BE49-F238E27FC236}">
                <a16:creationId xmlns:a16="http://schemas.microsoft.com/office/drawing/2014/main" id="{2F364F34-07DA-4C39-8AC3-7C2234D9DB35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0115550" y="3543300"/>
            <a:ext cx="17145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30" name="m4-flow-note">
            <a:extLst xmlns:a="http://schemas.openxmlformats.org/drawingml/2006/main">
              <a:ext uri="{FF2B5EF4-FFF2-40B4-BE49-F238E27FC236}">
                <a16:creationId xmlns:a16="http://schemas.microsoft.com/office/drawing/2014/main" id="{9FAFE8CD-E750-404E-9207-7525F465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5295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Edmonds–Karp and Dinic both find 16 units of maximum flow; the minimum cut also has capacity 16.</a:t>
            </a:r>
          </a:p>
        </p:txBody>
      </p:sp>
      <p:sp>
        <p:nvSpPr>
          <p:cNvPr id="31" name="m4-caveat">
            <a:extLst xmlns:a="http://schemas.openxmlformats.org/drawingml/2006/main">
              <a:ext uri="{FF2B5EF4-FFF2-40B4-BE49-F238E27FC236}">
                <a16:creationId xmlns:a16="http://schemas.microsoft.com/office/drawing/2014/main" id="{B7AC7502-E35D-4329-BA65-811CDE0C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104775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4-caveat-copy">
            <a:extLst xmlns:a="http://schemas.openxmlformats.org/drawingml/2006/main">
              <a:ext uri="{FF2B5EF4-FFF2-40B4-BE49-F238E27FC236}">
                <a16:creationId xmlns:a16="http://schemas.microsoft.com/office/drawing/2014/main" id="{DD2C94DF-081D-4920-A79E-F6981084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9626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The diagram simplifies the five-node example graph. No live pipeline or operator records are stored.</a:t>
            </a:r>
          </a:p>
        </p:txBody>
      </p:sp>
      <p:sp>
        <p:nvSpPr>
          <p:cNvPr id="3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76DAD6E-5783-4917-8E50-80CBECEB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1B9B2500-D324-44B9-9EBD-49DC67AE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3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90C2EFC-108A-422D-9D3E-0F4E2B46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14682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8D09FD4-CCEB-4481-BB8C-17AC9299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M5 · CO5 / NP-COMPLETENESS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285C29-C315-4EC6-8748-40BC6C55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Check constraints and cover conflicts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133BEAE-B23E-482E-92D8-5C1285FB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Small SAT and graph examples illustrate planning problems with costly exact solutions.</a:t>
            </a:r>
          </a:p>
        </p:txBody>
      </p:sp>
      <p:sp>
        <p:nvSpPr>
          <p:cNvPr id="4" name="m5-connected-label">
            <a:extLst xmlns:a="http://schemas.openxmlformats.org/drawingml/2006/main">
              <a:ext uri="{FF2B5EF4-FFF2-40B4-BE49-F238E27FC236}">
                <a16:creationId xmlns:a16="http://schemas.microsoft.com/office/drawing/2014/main" id="{D6234D92-5780-47BA-9A7C-2334BAD2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CONSOLE EXAMPLES</a:t>
            </a:r>
          </a:p>
        </p:txBody>
      </p:sp>
      <p:sp>
        <p:nvSpPr>
          <p:cNvPr id="5" name="m5-connected-copy">
            <a:extLst xmlns:a="http://schemas.openxmlformats.org/drawingml/2006/main">
              <a:ext uri="{FF2B5EF4-FFF2-40B4-BE49-F238E27FC236}">
                <a16:creationId xmlns:a16="http://schemas.microsoft.com/office/drawing/2014/main" id="{4321947A-2DBD-4DDF-9970-F13E4C64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A three-variable SAT example finds a satisfying assignment. A four-node graph demonstrates a vertex-cover approximation.</a:t>
            </a:r>
          </a:p>
        </p:txBody>
      </p:sp>
      <p:sp>
        <p:nvSpPr>
          <p:cNvPr id="6" name="m5-reduction-label">
            <a:extLst xmlns:a="http://schemas.openxmlformats.org/drawingml/2006/main">
              <a:ext uri="{FF2B5EF4-FFF2-40B4-BE49-F238E27FC236}">
                <a16:creationId xmlns:a16="http://schemas.microsoft.com/office/drawing/2014/main" id="{AC45C312-48F9-46A2-AC22-0661217C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REDUCTION METHODS IN THE CODE</a:t>
            </a:r>
          </a:p>
        </p:txBody>
      </p:sp>
      <p:sp>
        <p:nvSpPr>
          <p:cNvPr id="7" name="m5-reduction-node-0">
            <a:extLst xmlns:a="http://schemas.openxmlformats.org/drawingml/2006/main">
              <a:ext uri="{FF2B5EF4-FFF2-40B4-BE49-F238E27FC236}">
                <a16:creationId xmlns:a16="http://schemas.microsoft.com/office/drawing/2014/main" id="{0D18B3B1-9269-45D2-92A6-EF594F2A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71750"/>
            <a:ext cx="10668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m5-reduction-text-0">
            <a:extLst xmlns:a="http://schemas.openxmlformats.org/drawingml/2006/main">
              <a:ext uri="{FF2B5EF4-FFF2-40B4-BE49-F238E27FC236}">
                <a16:creationId xmlns:a16="http://schemas.microsoft.com/office/drawing/2014/main" id="{2477B9D7-5A45-48AC-9B0E-6C271AEF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05100"/>
            <a:ext cx="971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3-SAT</a:t>
            </a:r>
          </a:p>
        </p:txBody>
      </p:sp>
      <p:cxnSp>
        <p:nvCxnSpPr>
          <p:cNvPr id="9" name="m5-reduction-arrow-0">
            <a:extLst xmlns:a="http://schemas.openxmlformats.org/drawingml/2006/main">
              <a:ext uri="{FF2B5EF4-FFF2-40B4-BE49-F238E27FC236}">
                <a16:creationId xmlns:a16="http://schemas.microsoft.com/office/drawing/2014/main" id="{B136D361-3D7C-4616-AC52-EF3BE550E40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19975" y="2890838"/>
            <a:ext cx="1428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0" name="m5-reduction-node-1">
            <a:extLst xmlns:a="http://schemas.openxmlformats.org/drawingml/2006/main">
              <a:ext uri="{FF2B5EF4-FFF2-40B4-BE49-F238E27FC236}">
                <a16:creationId xmlns:a16="http://schemas.microsoft.com/office/drawing/2014/main" id="{DE76BB17-BC90-4564-A470-706B3C37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71750"/>
            <a:ext cx="10668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m5-reduction-text-1">
            <a:extLst xmlns:a="http://schemas.openxmlformats.org/drawingml/2006/main">
              <a:ext uri="{FF2B5EF4-FFF2-40B4-BE49-F238E27FC236}">
                <a16:creationId xmlns:a16="http://schemas.microsoft.com/office/drawing/2014/main" id="{01DAC4F3-B5EB-496F-92F7-0DF46088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05100"/>
            <a:ext cx="971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CLIQUE</a:t>
            </a:r>
          </a:p>
        </p:txBody>
      </p:sp>
      <p:cxnSp>
        <p:nvCxnSpPr>
          <p:cNvPr id="12" name="m5-reduction-arrow-1">
            <a:extLst xmlns:a="http://schemas.openxmlformats.org/drawingml/2006/main">
              <a:ext uri="{FF2B5EF4-FFF2-40B4-BE49-F238E27FC236}">
                <a16:creationId xmlns:a16="http://schemas.microsoft.com/office/drawing/2014/main" id="{DABF96FC-0962-4192-927F-D3CAA036578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705850" y="2890838"/>
            <a:ext cx="1428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3" name="m5-reduction-node-2">
            <a:extLst xmlns:a="http://schemas.openxmlformats.org/drawingml/2006/main">
              <a:ext uri="{FF2B5EF4-FFF2-40B4-BE49-F238E27FC236}">
                <a16:creationId xmlns:a16="http://schemas.microsoft.com/office/drawing/2014/main" id="{0456863F-7F8D-4F4F-AD86-909250F7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571750"/>
            <a:ext cx="10668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m5-reduction-text-2">
            <a:extLst xmlns:a="http://schemas.openxmlformats.org/drawingml/2006/main">
              <a:ext uri="{FF2B5EF4-FFF2-40B4-BE49-F238E27FC236}">
                <a16:creationId xmlns:a16="http://schemas.microsoft.com/office/drawing/2014/main" id="{2EBB4772-91C9-4716-964D-F7D1D5B3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05100"/>
            <a:ext cx="971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INDEPENDENT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SET</a:t>
            </a:r>
          </a:p>
        </p:txBody>
      </p:sp>
      <p:cxnSp>
        <p:nvCxnSpPr>
          <p:cNvPr id="15" name="m5-reduction-arrow-2">
            <a:extLst xmlns:a="http://schemas.openxmlformats.org/drawingml/2006/main">
              <a:ext uri="{FF2B5EF4-FFF2-40B4-BE49-F238E27FC236}">
                <a16:creationId xmlns:a16="http://schemas.microsoft.com/office/drawing/2014/main" id="{EC937B4D-0B33-4C03-897E-D743AAA1414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991725" y="2890838"/>
            <a:ext cx="1428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6" name="m5-reduction-node-3">
            <a:extLst xmlns:a="http://schemas.openxmlformats.org/drawingml/2006/main">
              <a:ext uri="{FF2B5EF4-FFF2-40B4-BE49-F238E27FC236}">
                <a16:creationId xmlns:a16="http://schemas.microsoft.com/office/drawing/2014/main" id="{7C127F84-3FD8-49AF-A617-096DFDF0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571750"/>
            <a:ext cx="10668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5-reduction-text-3">
            <a:extLst xmlns:a="http://schemas.openxmlformats.org/drawingml/2006/main">
              <a:ext uri="{FF2B5EF4-FFF2-40B4-BE49-F238E27FC236}">
                <a16:creationId xmlns:a16="http://schemas.microsoft.com/office/drawing/2014/main" id="{57022EFF-918E-4C1C-A0EB-FCFBAC9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705100"/>
            <a:ext cx="971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VERTEX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COVER</a:t>
            </a:r>
          </a:p>
        </p:txBody>
      </p:sp>
      <p:sp>
        <p:nvSpPr>
          <p:cNvPr id="18" name="m5-divider">
            <a:extLst xmlns:a="http://schemas.openxmlformats.org/drawingml/2006/main">
              <a:ext uri="{FF2B5EF4-FFF2-40B4-BE49-F238E27FC236}">
                <a16:creationId xmlns:a16="http://schemas.microsoft.com/office/drawing/2014/main" id="{F0F4A03D-CAE3-4680-91CC-E19DC876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m5-approx-label">
            <a:extLst xmlns:a="http://schemas.openxmlformats.org/drawingml/2006/main">
              <a:ext uri="{FF2B5EF4-FFF2-40B4-BE49-F238E27FC236}">
                <a16:creationId xmlns:a16="http://schemas.microsoft.com/office/drawing/2014/main" id="{6048E441-7DF9-4C53-BB29-EEC54D68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00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WHAT THE MENU REPORTS</a:t>
            </a:r>
          </a:p>
        </p:txBody>
      </p:sp>
      <p:sp>
        <p:nvSpPr>
          <p:cNvPr id="20" name="m5-approx-copy">
            <a:extLst xmlns:a="http://schemas.openxmlformats.org/drawingml/2006/main">
              <a:ext uri="{FF2B5EF4-FFF2-40B4-BE49-F238E27FC236}">
                <a16:creationId xmlns:a16="http://schemas.microsoft.com/office/drawing/2014/main" id="{DD048337-C366-4610-BC80-70A262BC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1038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The console reports whether the SAT example is satisfiable, counts 3-SAT-to-CLIQUE compatibility edges, and prints an approximate vertex cover. These are teaching examples.</a:t>
            </a:r>
          </a:p>
        </p:txBody>
      </p:sp>
      <p:sp>
        <p:nvSpPr>
          <p:cNvPr id="2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212886B-1C02-47E3-9032-7E8B2B57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DB75857D-6716-4CAB-9B0A-F7C71CC7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2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1AF7CBB-9618-441A-8AB7-6DBF36DD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425834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3CD2707-1FE0-40D3-BB43-BD854E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M6 · CO6 / RANDOMIZED &amp;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96D16F-6075-4819-AB02-ADB2CB07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Summarize sensor observations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C2B53C1-1115-43A2-800A-55668D0F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Five fixed readings feed sampling, ranking, cumulative totals, and mean pH.</a:t>
            </a:r>
          </a:p>
        </p:txBody>
      </p:sp>
      <p:sp>
        <p:nvSpPr>
          <p:cNvPr id="4" name="usage-stage-0-surface">
            <a:extLst xmlns:a="http://schemas.openxmlformats.org/drawingml/2006/main">
              <a:ext uri="{FF2B5EF4-FFF2-40B4-BE49-F238E27FC236}">
                <a16:creationId xmlns:a16="http://schemas.microsoft.com/office/drawing/2014/main" id="{7FB05F49-8025-4B16-8A4B-2C197F5E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238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usage-stage-0-accent">
            <a:extLst xmlns:a="http://schemas.openxmlformats.org/drawingml/2006/main">
              <a:ext uri="{FF2B5EF4-FFF2-40B4-BE49-F238E27FC236}">
                <a16:creationId xmlns:a16="http://schemas.microsoft.com/office/drawing/2014/main" id="{2B38E002-D8E1-48B4-9359-881DACE3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usage-stage-0-title">
            <a:extLst xmlns:a="http://schemas.openxmlformats.org/drawingml/2006/main">
              <a:ext uri="{FF2B5EF4-FFF2-40B4-BE49-F238E27FC236}">
                <a16:creationId xmlns:a16="http://schemas.microsoft.com/office/drawing/2014/main" id="{327F6DAF-EF0E-4C60-8F41-34BB55A4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Sensor stream</a:t>
            </a:r>
          </a:p>
        </p:txBody>
      </p:sp>
      <p:sp>
        <p:nvSpPr>
          <p:cNvPr id="7" name="usage-stage-0-body">
            <a:extLst xmlns:a="http://schemas.openxmlformats.org/drawingml/2006/main">
              <a:ext uri="{FF2B5EF4-FFF2-40B4-BE49-F238E27FC236}">
                <a16:creationId xmlns:a16="http://schemas.microsoft.com/office/drawing/2014/main" id="{669C3C87-29EE-42AC-B998-81A2CD66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1895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Five readings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S1 to S5</a:t>
            </a:r>
          </a:p>
        </p:txBody>
      </p:sp>
      <p:sp>
        <p:nvSpPr>
          <p:cNvPr id="8" name="usage-stage-1-surface">
            <a:extLst xmlns:a="http://schemas.openxmlformats.org/drawingml/2006/main">
              <a:ext uri="{FF2B5EF4-FFF2-40B4-BE49-F238E27FC236}">
                <a16:creationId xmlns:a16="http://schemas.microsoft.com/office/drawing/2014/main" id="{F389C466-2936-4DE6-A37B-B85511F4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33625"/>
            <a:ext cx="2238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usage-stage-1-accent">
            <a:extLst xmlns:a="http://schemas.openxmlformats.org/drawingml/2006/main">
              <a:ext uri="{FF2B5EF4-FFF2-40B4-BE49-F238E27FC236}">
                <a16:creationId xmlns:a16="http://schemas.microsoft.com/office/drawing/2014/main" id="{4CF3DDCF-3727-4346-B41A-3FB8FDBA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33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usage-stage-1-title">
            <a:extLst xmlns:a="http://schemas.openxmlformats.org/drawingml/2006/main">
              <a:ext uri="{FF2B5EF4-FFF2-40B4-BE49-F238E27FC236}">
                <a16:creationId xmlns:a16="http://schemas.microsoft.com/office/drawing/2014/main" id="{7B0C38EA-DC0A-4D73-834B-EE7E1751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146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Sample</a:t>
            </a:r>
          </a:p>
        </p:txBody>
      </p:sp>
      <p:sp>
        <p:nvSpPr>
          <p:cNvPr id="11" name="usage-stage-1-body">
            <a:extLst xmlns:a="http://schemas.openxmlformats.org/drawingml/2006/main">
              <a:ext uri="{FF2B5EF4-FFF2-40B4-BE49-F238E27FC236}">
                <a16:creationId xmlns:a16="http://schemas.microsoft.com/office/drawing/2014/main" id="{E31D8373-365E-42C3-B6C7-C832B586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14650"/>
            <a:ext cx="1895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Reservoir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sampling, k=3</a:t>
            </a:r>
          </a:p>
        </p:txBody>
      </p:sp>
      <p:sp>
        <p:nvSpPr>
          <p:cNvPr id="12" name="usage-stage-2-surface">
            <a:extLst xmlns:a="http://schemas.openxmlformats.org/drawingml/2006/main">
              <a:ext uri="{FF2B5EF4-FFF2-40B4-BE49-F238E27FC236}">
                <a16:creationId xmlns:a16="http://schemas.microsoft.com/office/drawing/2014/main" id="{6D66615E-98EA-42FC-AD7F-5FCA7771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3625"/>
            <a:ext cx="2238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usage-stage-2-accent">
            <a:extLst xmlns:a="http://schemas.openxmlformats.org/drawingml/2006/main">
              <a:ext uri="{FF2B5EF4-FFF2-40B4-BE49-F238E27FC236}">
                <a16:creationId xmlns:a16="http://schemas.microsoft.com/office/drawing/2014/main" id="{9DB39242-F9F4-4C19-8039-EB7906C3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3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usage-stage-2-title">
            <a:extLst xmlns:a="http://schemas.openxmlformats.org/drawingml/2006/main">
              <a:ext uri="{FF2B5EF4-FFF2-40B4-BE49-F238E27FC236}">
                <a16:creationId xmlns:a16="http://schemas.microsoft.com/office/drawing/2014/main" id="{690B25DB-2FB7-4711-828D-C3E58A97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146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Mean pH</a:t>
            </a:r>
          </a:p>
        </p:txBody>
      </p:sp>
      <p:sp>
        <p:nvSpPr>
          <p:cNvPr id="15" name="usage-stage-2-body">
            <a:extLst xmlns:a="http://schemas.openxmlformats.org/drawingml/2006/main">
              <a:ext uri="{FF2B5EF4-FFF2-40B4-BE49-F238E27FC236}">
                <a16:creationId xmlns:a16="http://schemas.microsoft.com/office/drawing/2014/main" id="{7F3C9977-A78C-4AE2-98E9-9ED82A0E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14650"/>
            <a:ext cx="1895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Parallel average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7.08</a:t>
            </a:r>
          </a:p>
        </p:txBody>
      </p:sp>
      <p:sp>
        <p:nvSpPr>
          <p:cNvPr id="16" name="usage-stage-3-surface">
            <a:extLst xmlns:a="http://schemas.openxmlformats.org/drawingml/2006/main">
              <a:ext uri="{FF2B5EF4-FFF2-40B4-BE49-F238E27FC236}">
                <a16:creationId xmlns:a16="http://schemas.microsoft.com/office/drawing/2014/main" id="{54AC609D-7EEC-4616-8E1E-DB5D04B0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33625"/>
            <a:ext cx="2238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usage-stage-3-accent">
            <a:extLst xmlns:a="http://schemas.openxmlformats.org/drawingml/2006/main">
              <a:ext uri="{FF2B5EF4-FFF2-40B4-BE49-F238E27FC236}">
                <a16:creationId xmlns:a16="http://schemas.microsoft.com/office/drawing/2014/main" id="{16B5A991-5598-4852-ADD3-B1268B1B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33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CC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usage-stage-3-title">
            <a:extLst xmlns:a="http://schemas.openxmlformats.org/drawingml/2006/main">
              <a:ext uri="{FF2B5EF4-FFF2-40B4-BE49-F238E27FC236}">
                <a16:creationId xmlns:a16="http://schemas.microsoft.com/office/drawing/2014/main" id="{0FB1EDB5-F6BE-4F8A-A3CB-85C09741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514600"/>
            <a:ext cx="18954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Cumulative level</a:t>
            </a:r>
          </a:p>
        </p:txBody>
      </p:sp>
      <p:sp>
        <p:nvSpPr>
          <p:cNvPr id="19" name="usage-stage-3-body">
            <a:extLst xmlns:a="http://schemas.openxmlformats.org/drawingml/2006/main">
              <a:ext uri="{FF2B5EF4-FFF2-40B4-BE49-F238E27FC236}">
                <a16:creationId xmlns:a16="http://schemas.microsoft.com/office/drawing/2014/main" id="{A40697B2-27BE-493B-8708-D598E37F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914650"/>
            <a:ext cx="1895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Scan output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88 to 417</a:t>
            </a:r>
          </a:p>
        </p:txBody>
      </p:sp>
      <p:cxnSp>
        <p:nvCxnSpPr>
          <p:cNvPr id="20" name="usage-flow-0">
            <a:extLst xmlns:a="http://schemas.openxmlformats.org/drawingml/2006/main">
              <a:ext uri="{FF2B5EF4-FFF2-40B4-BE49-F238E27FC236}">
                <a16:creationId xmlns:a16="http://schemas.microsoft.com/office/drawing/2014/main" id="{6E489159-8DBA-461A-9719-9C7797E2AE8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067050" y="3048000"/>
            <a:ext cx="333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1" name="usage-flow-1">
            <a:extLst xmlns:a="http://schemas.openxmlformats.org/drawingml/2006/main">
              <a:ext uri="{FF2B5EF4-FFF2-40B4-BE49-F238E27FC236}">
                <a16:creationId xmlns:a16="http://schemas.microsoft.com/office/drawing/2014/main" id="{CAF6FA32-AECC-46ED-85A4-40FA28ADA88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762625" y="3048000"/>
            <a:ext cx="333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22" name="usage-flow-2">
            <a:extLst xmlns:a="http://schemas.openxmlformats.org/drawingml/2006/main">
              <a:ext uri="{FF2B5EF4-FFF2-40B4-BE49-F238E27FC236}">
                <a16:creationId xmlns:a16="http://schemas.microsoft.com/office/drawing/2014/main" id="{F7397000-4647-4A01-82CA-3A0F0D67121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458200" y="3048000"/>
            <a:ext cx="333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D9488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23" name="m6-ranking-label">
            <a:extLst xmlns:a="http://schemas.openxmlformats.org/drawingml/2006/main">
              <a:ext uri="{FF2B5EF4-FFF2-40B4-BE49-F238E27FC236}">
                <a16:creationId xmlns:a16="http://schemas.microsoft.com/office/drawing/2014/main" id="{092DFAE4-C828-487E-829D-54A42218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RANKING</a:t>
            </a:r>
          </a:p>
        </p:txBody>
      </p:sp>
      <p:sp>
        <p:nvSpPr>
          <p:cNvPr id="24" name="m6-ranking-copy">
            <a:extLst xmlns:a="http://schemas.openxmlformats.org/drawingml/2006/main">
              <a:ext uri="{FF2B5EF4-FFF2-40B4-BE49-F238E27FC236}">
                <a16:creationId xmlns:a16="http://schemas.microsoft.com/office/drawing/2014/main" id="{A20D8B26-E7A5-4FFE-8D09-E464EBC1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095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Randomized QuickSort orders five sample demand values from 9,000 to 18,000 L/day.</a:t>
            </a:r>
          </a:p>
        </p:txBody>
      </p:sp>
      <p:sp>
        <p:nvSpPr>
          <p:cNvPr id="25" name="m6-standalone-label">
            <a:extLst xmlns:a="http://schemas.openxmlformats.org/drawingml/2006/main">
              <a:ext uri="{FF2B5EF4-FFF2-40B4-BE49-F238E27FC236}">
                <a16:creationId xmlns:a16="http://schemas.microsoft.com/office/drawing/2014/main" id="{6FE3A72E-6C66-480F-866C-9472A607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672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ADDITIONAL UTILITIES</a:t>
            </a:r>
          </a:p>
        </p:txBody>
      </p:sp>
      <p:sp>
        <p:nvSpPr>
          <p:cNvPr id="26" name="m6-standalone-copy">
            <a:extLst xmlns:a="http://schemas.openxmlformats.org/drawingml/2006/main">
              <a:ext uri="{FF2B5EF4-FFF2-40B4-BE49-F238E27FC236}">
                <a16:creationId xmlns:a16="http://schemas.microsoft.com/office/drawing/2014/main" id="{4928BF97-C912-47C0-B19B-F2388665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5095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Miller–Rabin checks whether 1,000,003 is prime. Brent’s bound estimates parallel work. Both are teaching utilities.</a:t>
            </a:r>
          </a:p>
        </p:txBody>
      </p:sp>
      <p:sp>
        <p:nvSpPr>
          <p:cNvPr id="27" name="m6-caveat">
            <a:extLst xmlns:a="http://schemas.openxmlformats.org/drawingml/2006/main">
              <a:ext uri="{FF2B5EF4-FFF2-40B4-BE49-F238E27FC236}">
                <a16:creationId xmlns:a16="http://schemas.microsoft.com/office/drawing/2014/main" id="{CEEC9A47-F0D1-413E-BFDC-7001B838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00700"/>
            <a:ext cx="1047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6-caveat-copy">
            <a:extLst xmlns:a="http://schemas.openxmlformats.org/drawingml/2006/main">
              <a:ext uri="{FF2B5EF4-FFF2-40B4-BE49-F238E27FC236}">
                <a16:creationId xmlns:a16="http://schemas.microsoft.com/office/drawing/2014/main" id="{903494FB-E46A-4710-8DBB-F0F60C51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95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The console calls the scan “exclusive,” but it returns inclusive totals. Sensor values are defined in source code.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CA95D4-A60D-406C-9FB2-BF2B086A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9DFA6F0A-F922-430B-A1FA-3428468A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3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6D91C78-2662-448F-BE65-36D2DE57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48629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FF479A5-2DD8-4FDA-83FC-6DF461D8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IMPLEMENTATION 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DF3CC0-BFB3-4882-8616-051DBD4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1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Explore AquaNet from the console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719A2B3-5E47-4CC1-A083-89513671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66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Seven menu actions run DSA demonstrations against sample values defined in Java.</a:t>
            </a:r>
          </a:p>
        </p:txBody>
      </p:sp>
      <p:sp>
        <p:nvSpPr>
          <p:cNvPr id="4" name="member-flow-label">
            <a:extLst xmlns:a="http://schemas.openxmlformats.org/drawingml/2006/main">
              <a:ext uri="{FF2B5EF4-FFF2-40B4-BE49-F238E27FC236}">
                <a16:creationId xmlns:a16="http://schemas.microsoft.com/office/drawing/2014/main" id="{69124161-6F80-4253-8935-EA326FCD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USER WORKFLOW</a:t>
            </a:r>
          </a:p>
        </p:txBody>
      </p:sp>
      <p:sp>
        <p:nvSpPr>
          <p:cNvPr id="5" name="member-step-0">
            <a:extLst xmlns:a="http://schemas.openxmlformats.org/drawingml/2006/main">
              <a:ext uri="{FF2B5EF4-FFF2-40B4-BE49-F238E27FC236}">
                <a16:creationId xmlns:a16="http://schemas.microsoft.com/office/drawing/2014/main" id="{1A7FA571-8395-4710-A0CE-05B01D37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90775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01</a:t>
            </a:r>
          </a:p>
        </p:txBody>
      </p:sp>
      <p:sp>
        <p:nvSpPr>
          <p:cNvPr id="6" name="member-action-0">
            <a:extLst xmlns:a="http://schemas.openxmlformats.org/drawingml/2006/main">
              <a:ext uri="{FF2B5EF4-FFF2-40B4-BE49-F238E27FC236}">
                <a16:creationId xmlns:a16="http://schemas.microsoft.com/office/drawing/2014/main" id="{EC7D77EA-69F9-4054-8FE6-1C94DDD1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907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Launch</a:t>
            </a:r>
          </a:p>
        </p:txBody>
      </p:sp>
      <p:sp>
        <p:nvSpPr>
          <p:cNvPr id="7" name="member-desc-0">
            <a:extLst xmlns:a="http://schemas.openxmlformats.org/drawingml/2006/main">
              <a:ext uri="{FF2B5EF4-FFF2-40B4-BE49-F238E27FC236}">
                <a16:creationId xmlns:a16="http://schemas.microsoft.com/office/drawing/2014/main" id="{147E7A01-72F1-41DB-AAD1-27A8E1F3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90775"/>
            <a:ext cx="2714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Run AquaNetApp as a Java application</a:t>
            </a:r>
          </a:p>
        </p:txBody>
      </p:sp>
      <p:sp>
        <p:nvSpPr>
          <p:cNvPr id="8" name="member-rule-0">
            <a:extLst xmlns:a="http://schemas.openxmlformats.org/drawingml/2006/main">
              <a:ext uri="{FF2B5EF4-FFF2-40B4-BE49-F238E27FC236}">
                <a16:creationId xmlns:a16="http://schemas.microsoft.com/office/drawing/2014/main" id="{6E6C0C6E-A331-4DB4-95C0-C1E9706E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00375"/>
            <a:ext cx="433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member-step-1">
            <a:extLst xmlns:a="http://schemas.openxmlformats.org/drawingml/2006/main">
              <a:ext uri="{FF2B5EF4-FFF2-40B4-BE49-F238E27FC236}">
                <a16:creationId xmlns:a16="http://schemas.microsoft.com/office/drawing/2014/main" id="{6E289641-5AF3-4DB8-94AB-C064C724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02</a:t>
            </a:r>
          </a:p>
        </p:txBody>
      </p:sp>
      <p:sp>
        <p:nvSpPr>
          <p:cNvPr id="10" name="member-action-1">
            <a:extLst xmlns:a="http://schemas.openxmlformats.org/drawingml/2006/main">
              <a:ext uri="{FF2B5EF4-FFF2-40B4-BE49-F238E27FC236}">
                <a16:creationId xmlns:a16="http://schemas.microsoft.com/office/drawing/2014/main" id="{16EE4541-3B4B-4121-9D28-2633D360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57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Choose</a:t>
            </a:r>
          </a:p>
        </p:txBody>
      </p:sp>
      <p:sp>
        <p:nvSpPr>
          <p:cNvPr id="11" name="member-desc-1">
            <a:extLst xmlns:a="http://schemas.openxmlformats.org/drawingml/2006/main">
              <a:ext uri="{FF2B5EF4-FFF2-40B4-BE49-F238E27FC236}">
                <a16:creationId xmlns:a16="http://schemas.microsoft.com/office/drawing/2014/main" id="{5B13AE32-028E-4747-A47D-D3A311AF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2714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Select one of seven demonstration modules</a:t>
            </a:r>
          </a:p>
        </p:txBody>
      </p:sp>
      <p:sp>
        <p:nvSpPr>
          <p:cNvPr id="12" name="member-rule-1">
            <a:extLst xmlns:a="http://schemas.openxmlformats.org/drawingml/2006/main">
              <a:ext uri="{FF2B5EF4-FFF2-40B4-BE49-F238E27FC236}">
                <a16:creationId xmlns:a16="http://schemas.microsoft.com/office/drawing/2014/main" id="{3F98B21F-BD18-4D06-AC2B-8E50F4E8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67150"/>
            <a:ext cx="433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member-step-2">
            <a:extLst xmlns:a="http://schemas.openxmlformats.org/drawingml/2006/main">
              <a:ext uri="{FF2B5EF4-FFF2-40B4-BE49-F238E27FC236}">
                <a16:creationId xmlns:a16="http://schemas.microsoft.com/office/drawing/2014/main" id="{FCC4AB5E-AEDE-4B4C-A8B8-6E24D183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24325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03</a:t>
            </a:r>
          </a:p>
        </p:txBody>
      </p:sp>
      <p:sp>
        <p:nvSpPr>
          <p:cNvPr id="14" name="member-action-2">
            <a:extLst xmlns:a="http://schemas.openxmlformats.org/drawingml/2006/main">
              <a:ext uri="{FF2B5EF4-FFF2-40B4-BE49-F238E27FC236}">
                <a16:creationId xmlns:a16="http://schemas.microsoft.com/office/drawing/2014/main" id="{F5E68546-D8C0-47EA-90A6-355B6925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2432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Search</a:t>
            </a:r>
          </a:p>
        </p:txBody>
      </p:sp>
      <p:sp>
        <p:nvSpPr>
          <p:cNvPr id="15" name="member-desc-2">
            <a:extLst xmlns:a="http://schemas.openxmlformats.org/drawingml/2006/main">
              <a:ext uri="{FF2B5EF4-FFF2-40B4-BE49-F238E27FC236}">
                <a16:creationId xmlns:a16="http://schemas.microsoft.com/office/drawing/2014/main" id="{9A013B1E-69CF-4EDE-8246-908D896A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24325"/>
            <a:ext cx="2714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Enter a term, or use the report default</a:t>
            </a:r>
          </a:p>
        </p:txBody>
      </p:sp>
      <p:sp>
        <p:nvSpPr>
          <p:cNvPr id="16" name="workflow-divider">
            <a:extLst xmlns:a="http://schemas.openxmlformats.org/drawingml/2006/main">
              <a:ext uri="{FF2B5EF4-FFF2-40B4-BE49-F238E27FC236}">
                <a16:creationId xmlns:a16="http://schemas.microsoft.com/office/drawing/2014/main" id="{79F6FE28-D928-46B0-B369-D68710A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09775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staff-flow-label">
            <a:extLst xmlns:a="http://schemas.openxmlformats.org/drawingml/2006/main">
              <a:ext uri="{FF2B5EF4-FFF2-40B4-BE49-F238E27FC236}">
                <a16:creationId xmlns:a16="http://schemas.microsoft.com/office/drawing/2014/main" id="{92D9A630-905F-474F-8FC0-F1B072F1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0D9488"/>
                </a:solidFill>
                <a:latin typeface="JetBrains Mono"/>
                <a:ea typeface="JetBrains Mono"/>
                <a:cs typeface="JetBrains Mono"/>
              </a:rPr>
              <a:t>PROGRAM FLOW</a:t>
            </a:r>
          </a:p>
        </p:txBody>
      </p:sp>
      <p:sp>
        <p:nvSpPr>
          <p:cNvPr id="18" name="staff-step-0">
            <a:extLst xmlns:a="http://schemas.openxmlformats.org/drawingml/2006/main">
              <a:ext uri="{FF2B5EF4-FFF2-40B4-BE49-F238E27FC236}">
                <a16:creationId xmlns:a16="http://schemas.microsoft.com/office/drawing/2014/main" id="{8ECCC17B-5EF1-4C6A-B632-210BB957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90775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01</a:t>
            </a:r>
          </a:p>
        </p:txBody>
      </p:sp>
      <p:sp>
        <p:nvSpPr>
          <p:cNvPr id="19" name="staff-action-0">
            <a:extLst xmlns:a="http://schemas.openxmlformats.org/drawingml/2006/main">
              <a:ext uri="{FF2B5EF4-FFF2-40B4-BE49-F238E27FC236}">
                <a16:creationId xmlns:a16="http://schemas.microsoft.com/office/drawing/2014/main" id="{8E50B028-6E7A-4136-987D-DA3C5F01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907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Load</a:t>
            </a:r>
          </a:p>
        </p:txBody>
      </p:sp>
      <p:sp>
        <p:nvSpPr>
          <p:cNvPr id="20" name="staff-desc-0">
            <a:extLst xmlns:a="http://schemas.openxmlformats.org/drawingml/2006/main">
              <a:ext uri="{FF2B5EF4-FFF2-40B4-BE49-F238E27FC236}">
                <a16:creationId xmlns:a16="http://schemas.microsoft.com/office/drawing/2014/main" id="{9EC51690-FA87-4237-BFB0-C989D39D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90775"/>
            <a:ext cx="2457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Use fixed assets, reports and sensor values</a:t>
            </a:r>
          </a:p>
        </p:txBody>
      </p:sp>
      <p:sp>
        <p:nvSpPr>
          <p:cNvPr id="21" name="staff-rule-0">
            <a:extLst xmlns:a="http://schemas.openxmlformats.org/drawingml/2006/main">
              <a:ext uri="{FF2B5EF4-FFF2-40B4-BE49-F238E27FC236}">
                <a16:creationId xmlns:a16="http://schemas.microsoft.com/office/drawing/2014/main" id="{CDA70216-164D-46E8-B568-09F855F6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00375"/>
            <a:ext cx="407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staff-step-1">
            <a:extLst xmlns:a="http://schemas.openxmlformats.org/drawingml/2006/main">
              <a:ext uri="{FF2B5EF4-FFF2-40B4-BE49-F238E27FC236}">
                <a16:creationId xmlns:a16="http://schemas.microsoft.com/office/drawing/2014/main" id="{A556EE6E-F740-4018-B19E-7722674F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575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02</a:t>
            </a:r>
          </a:p>
        </p:txBody>
      </p:sp>
      <p:sp>
        <p:nvSpPr>
          <p:cNvPr id="23" name="staff-action-1">
            <a:extLst xmlns:a="http://schemas.openxmlformats.org/drawingml/2006/main">
              <a:ext uri="{FF2B5EF4-FFF2-40B4-BE49-F238E27FC236}">
                <a16:creationId xmlns:a16="http://schemas.microsoft.com/office/drawing/2014/main" id="{E735658B-853B-485C-94DA-3824383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57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Compute</a:t>
            </a:r>
          </a:p>
        </p:txBody>
      </p:sp>
      <p:sp>
        <p:nvSpPr>
          <p:cNvPr id="24" name="staff-desc-1">
            <a:extLst xmlns:a="http://schemas.openxmlformats.org/drawingml/2006/main">
              <a:ext uri="{FF2B5EF4-FFF2-40B4-BE49-F238E27FC236}">
                <a16:creationId xmlns:a16="http://schemas.microsoft.com/office/drawing/2014/main" id="{E86A304C-71B0-4781-8FA7-4094EEC2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57550"/>
            <a:ext cx="2457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Call methods in Algorithms.java</a:t>
            </a:r>
          </a:p>
        </p:txBody>
      </p:sp>
      <p:sp>
        <p:nvSpPr>
          <p:cNvPr id="25" name="staff-rule-1">
            <a:extLst xmlns:a="http://schemas.openxmlformats.org/drawingml/2006/main">
              <a:ext uri="{FF2B5EF4-FFF2-40B4-BE49-F238E27FC236}">
                <a16:creationId xmlns:a16="http://schemas.microsoft.com/office/drawing/2014/main" id="{71F9A9D9-29BC-47B5-A1A1-1F79B839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67150"/>
            <a:ext cx="407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staff-step-2">
            <a:extLst xmlns:a="http://schemas.openxmlformats.org/drawingml/2006/main">
              <a:ext uri="{FF2B5EF4-FFF2-40B4-BE49-F238E27FC236}">
                <a16:creationId xmlns:a16="http://schemas.microsoft.com/office/drawing/2014/main" id="{FD7A87DC-7A29-4727-B9F5-29FF4795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24325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03</a:t>
            </a:r>
          </a:p>
        </p:txBody>
      </p:sp>
      <p:sp>
        <p:nvSpPr>
          <p:cNvPr id="27" name="staff-action-2">
            <a:extLst xmlns:a="http://schemas.openxmlformats.org/drawingml/2006/main">
              <a:ext uri="{FF2B5EF4-FFF2-40B4-BE49-F238E27FC236}">
                <a16:creationId xmlns:a16="http://schemas.microsoft.com/office/drawing/2014/main" id="{C4CE4D32-BCDA-4028-B0F8-113DDC4A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2432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Print</a:t>
            </a:r>
          </a:p>
        </p:txBody>
      </p:sp>
      <p:sp>
        <p:nvSpPr>
          <p:cNvPr id="28" name="staff-desc-2">
            <a:extLst xmlns:a="http://schemas.openxmlformats.org/drawingml/2006/main">
              <a:ext uri="{FF2B5EF4-FFF2-40B4-BE49-F238E27FC236}">
                <a16:creationId xmlns:a16="http://schemas.microsoft.com/office/drawing/2014/main" id="{D1274406-7DCC-4363-BBE7-246158FF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124325"/>
            <a:ext cx="2457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33415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334155"/>
                </a:solidFill>
                <a:latin typeface="Inter"/>
                <a:ea typeface="Inter"/>
                <a:cs typeface="Inter"/>
              </a:rPr>
              <a:t>Show matches, totals and sample decisions</a:t>
            </a:r>
          </a:p>
        </p:txBody>
      </p:sp>
      <p:sp>
        <p:nvSpPr>
          <p:cNvPr id="29" name="workflow-footer">
            <a:extLst xmlns:a="http://schemas.openxmlformats.org/drawingml/2006/main">
              <a:ext uri="{FF2B5EF4-FFF2-40B4-BE49-F238E27FC236}">
                <a16:creationId xmlns:a16="http://schemas.microsoft.com/office/drawing/2014/main" id="{1D1090F1-7B89-4E35-BF54-C88D1A37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62600"/>
            <a:ext cx="10477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workflow-footer-copy">
            <a:extLst xmlns:a="http://schemas.openxmlformats.org/drawingml/2006/main">
              <a:ext uri="{FF2B5EF4-FFF2-40B4-BE49-F238E27FC236}">
                <a16:creationId xmlns:a16="http://schemas.microsoft.com/office/drawing/2014/main" id="{07961526-E2BE-4B5C-8551-4DF1272E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Java 17+  ·  Eclipse project  ·  local console  ·  in-memory sample data</a:t>
            </a:r>
          </a:p>
        </p:txBody>
      </p:sp>
      <p:sp>
        <p:nvSpPr>
          <p:cNvPr id="3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F7DBE41-36E1-4C08-841B-48E74D2E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353148E-DE5A-4827-B1C2-AAB68A4D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AQUANET  /  DSA PROJECT</a:t>
            </a:r>
          </a:p>
        </p:txBody>
      </p:sp>
      <p:sp>
        <p:nvSpPr>
          <p:cNvPr id="3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99BED4F-3EC3-4921-9493-FA6187D7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defRPr>
            </a:pPr>
            <a:r>
              <a:rPr sz="975" b="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164788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4ACB044B-A521-4781-A8DF-E5A7E856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770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12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AQUANET  /  CO1–CO6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7832BC69-A0AF-407C-9727-7EDF6C90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2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4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Thank You / Q&amp;A</a:t>
            </a:r>
          </a:p>
        </p:txBody>
      </p:sp>
      <p:sp>
        <p:nvSpPr>
          <p:cNvPr id="3" name="closing-summary">
            <a:extLst xmlns:a="http://schemas.openxmlformats.org/drawingml/2006/main">
              <a:ext uri="{FF2B5EF4-FFF2-40B4-BE49-F238E27FC236}">
                <a16:creationId xmlns:a16="http://schemas.microsoft.com/office/drawing/2014/main" id="{052E04A3-B257-4AF7-898C-FC3900BB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28825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CBD5E1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CBD5E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CBD5E1"/>
                </a:solidFill>
                <a:latin typeface="Inter"/>
                <a:ea typeface="Inter"/>
                <a:cs typeface="Inter"/>
              </a:rPr>
              <a:t>A Java console demonstration of six DSA modules in water-resource scenarios.</a:t>
            </a:r>
          </a:p>
        </p:txBody>
      </p:sp>
      <p:sp>
        <p:nvSpPr>
          <p:cNvPr id="4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39139BB2-BF47-4980-BD90-4BF62A20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losing-module-0">
            <a:extLst xmlns:a="http://schemas.openxmlformats.org/drawingml/2006/main">
              <a:ext uri="{FF2B5EF4-FFF2-40B4-BE49-F238E27FC236}">
                <a16:creationId xmlns:a16="http://schemas.microsoft.com/office/drawing/2014/main" id="{A3044A1B-F8A3-4FAD-82A0-DABA030D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8612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M1</a:t>
            </a:r>
          </a:p>
        </p:txBody>
      </p:sp>
      <p:sp>
        <p:nvSpPr>
          <p:cNvPr id="6" name="closing-topic-0">
            <a:extLst xmlns:a="http://schemas.openxmlformats.org/drawingml/2006/main">
              <a:ext uri="{FF2B5EF4-FFF2-40B4-BE49-F238E27FC236}">
                <a16:creationId xmlns:a16="http://schemas.microsoft.com/office/drawing/2014/main" id="{EB6B9208-CFB7-4024-AAD5-081D15AC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25755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Search</a:t>
            </a:r>
          </a:p>
        </p:txBody>
      </p:sp>
      <p:sp>
        <p:nvSpPr>
          <p:cNvPr id="7" name="closing-module-1">
            <a:extLst xmlns:a="http://schemas.openxmlformats.org/drawingml/2006/main">
              <a:ext uri="{FF2B5EF4-FFF2-40B4-BE49-F238E27FC236}">
                <a16:creationId xmlns:a16="http://schemas.microsoft.com/office/drawing/2014/main" id="{35CEDAB0-17BB-43EE-8CFE-A104B9A5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8612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M2</a:t>
            </a:r>
          </a:p>
        </p:txBody>
      </p:sp>
      <p:sp>
        <p:nvSpPr>
          <p:cNvPr id="8" name="closing-topic-1">
            <a:extLst xmlns:a="http://schemas.openxmlformats.org/drawingml/2006/main">
              <a:ext uri="{FF2B5EF4-FFF2-40B4-BE49-F238E27FC236}">
                <a16:creationId xmlns:a16="http://schemas.microsoft.com/office/drawing/2014/main" id="{E627C855-7037-465E-9C55-6E7CC088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25755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Text indexing</a:t>
            </a:r>
          </a:p>
        </p:txBody>
      </p:sp>
      <p:sp>
        <p:nvSpPr>
          <p:cNvPr id="9" name="closing-module-2">
            <a:extLst xmlns:a="http://schemas.openxmlformats.org/drawingml/2006/main">
              <a:ext uri="{FF2B5EF4-FFF2-40B4-BE49-F238E27FC236}">
                <a16:creationId xmlns:a16="http://schemas.microsoft.com/office/drawing/2014/main" id="{3F4336E3-C112-44D4-A30C-9695D62A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8612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M3</a:t>
            </a:r>
          </a:p>
        </p:txBody>
      </p:sp>
      <p:sp>
        <p:nvSpPr>
          <p:cNvPr id="10" name="closing-topic-2">
            <a:extLst xmlns:a="http://schemas.openxmlformats.org/drawingml/2006/main">
              <a:ext uri="{FF2B5EF4-FFF2-40B4-BE49-F238E27FC236}">
                <a16:creationId xmlns:a16="http://schemas.microsoft.com/office/drawing/2014/main" id="{33D7BA9A-F8E4-42E2-99E7-816B1479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25755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Planning</a:t>
            </a:r>
          </a:p>
        </p:txBody>
      </p:sp>
      <p:sp>
        <p:nvSpPr>
          <p:cNvPr id="11" name="closing-module-3">
            <a:extLst xmlns:a="http://schemas.openxmlformats.org/drawingml/2006/main">
              <a:ext uri="{FF2B5EF4-FFF2-40B4-BE49-F238E27FC236}">
                <a16:creationId xmlns:a16="http://schemas.microsoft.com/office/drawing/2014/main" id="{6A44395F-8F89-4073-8727-B075FE99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5292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M4</a:t>
            </a:r>
          </a:p>
        </p:txBody>
      </p:sp>
      <p:sp>
        <p:nvSpPr>
          <p:cNvPr id="12" name="closing-topic-3">
            <a:extLst xmlns:a="http://schemas.openxmlformats.org/drawingml/2006/main">
              <a:ext uri="{FF2B5EF4-FFF2-40B4-BE49-F238E27FC236}">
                <a16:creationId xmlns:a16="http://schemas.microsoft.com/office/drawing/2014/main" id="{3227487F-F4D4-410C-A4B9-407F8E29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2435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Network flow</a:t>
            </a:r>
          </a:p>
        </p:txBody>
      </p:sp>
      <p:sp>
        <p:nvSpPr>
          <p:cNvPr id="13" name="closing-module-4">
            <a:extLst xmlns:a="http://schemas.openxmlformats.org/drawingml/2006/main">
              <a:ext uri="{FF2B5EF4-FFF2-40B4-BE49-F238E27FC236}">
                <a16:creationId xmlns:a16="http://schemas.microsoft.com/office/drawing/2014/main" id="{D4954A78-AC26-43D1-A23C-343AE5F3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5292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M5</a:t>
            </a:r>
          </a:p>
        </p:txBody>
      </p:sp>
      <p:sp>
        <p:nvSpPr>
          <p:cNvPr id="14" name="closing-topic-4">
            <a:extLst xmlns:a="http://schemas.openxmlformats.org/drawingml/2006/main">
              <a:ext uri="{FF2B5EF4-FFF2-40B4-BE49-F238E27FC236}">
                <a16:creationId xmlns:a16="http://schemas.microsoft.com/office/drawing/2014/main" id="{7B3E63DE-378C-4B74-9708-E5357173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32435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Constraints</a:t>
            </a:r>
          </a:p>
        </p:txBody>
      </p:sp>
      <p:sp>
        <p:nvSpPr>
          <p:cNvPr id="15" name="closing-module-5">
            <a:extLst xmlns:a="http://schemas.openxmlformats.org/drawingml/2006/main">
              <a:ext uri="{FF2B5EF4-FFF2-40B4-BE49-F238E27FC236}">
                <a16:creationId xmlns:a16="http://schemas.microsoft.com/office/drawing/2014/main" id="{D6A85F56-8C77-4184-94B2-C495D559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5292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defRPr>
            </a:pPr>
            <a:r>
              <a:rPr sz="1275" b="1">
                <a:solidFill>
                  <a:srgbClr val="84CC16"/>
                </a:solidFill>
                <a:latin typeface="JetBrains Mono"/>
                <a:ea typeface="JetBrains Mono"/>
                <a:cs typeface="JetBrains Mono"/>
              </a:rPr>
              <a:t>M6</a:t>
            </a:r>
          </a:p>
        </p:txBody>
      </p:sp>
      <p:sp>
        <p:nvSpPr>
          <p:cNvPr id="16" name="closing-topic-5">
            <a:extLst xmlns:a="http://schemas.openxmlformats.org/drawingml/2006/main">
              <a:ext uri="{FF2B5EF4-FFF2-40B4-BE49-F238E27FC236}">
                <a16:creationId xmlns:a16="http://schemas.microsoft.com/office/drawing/2014/main" id="{43BB27EF-BC8F-4E37-B0BC-2AB91756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2435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Sensor analytics</a:t>
            </a:r>
          </a:p>
        </p:txBody>
      </p:sp>
      <p:sp>
        <p:nvSpPr>
          <p:cNvPr id="17" name="closing-question">
            <a:extLst xmlns:a="http://schemas.openxmlformats.org/drawingml/2006/main">
              <a:ext uri="{FF2B5EF4-FFF2-40B4-BE49-F238E27FC236}">
                <a16:creationId xmlns:a16="http://schemas.microsoft.com/office/drawing/2014/main" id="{0C4B8F0D-9B58-406B-81DE-3C0E15CF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323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0D9488"/>
                </a:solidFill>
                <a:latin typeface="Inter"/>
                <a:ea typeface="Inter"/>
                <a:cs typeface="Inter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0D9488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D9488"/>
                </a:solidFill>
                <a:latin typeface="Inter"/>
                <a:ea typeface="Inter"/>
                <a:cs typeface="Inter"/>
              </a:rPr>
              <a:t>Questions?</a:t>
            </a:r>
          </a:p>
        </p:txBody>
      </p:sp>
      <p:sp>
        <p:nvSpPr>
          <p:cNvPr id="18" name="closing-footer">
            <a:extLst xmlns:a="http://schemas.openxmlformats.org/drawingml/2006/main">
              <a:ext uri="{FF2B5EF4-FFF2-40B4-BE49-F238E27FC236}">
                <a16:creationId xmlns:a16="http://schemas.microsoft.com/office/drawing/2014/main" id="{180A40E1-57C2-4E19-9B0A-59C79ECC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57925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4A3B8"/>
                </a:solidFill>
                <a:latin typeface="JetBrains Mono"/>
                <a:ea typeface="JetBrains Mono"/>
                <a:cs typeface="JetBrains Mono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4A3B8"/>
                </a:solidFill>
                <a:latin typeface="JetBrains Mono"/>
                <a:ea typeface="JetBrains Mono"/>
                <a:cs typeface="JetBrains Mono"/>
              </a:defRPr>
            </a:pPr>
            <a:r>
              <a:rPr sz="1050" b="0">
                <a:solidFill>
                  <a:srgbClr val="94A3B8"/>
                </a:solidFill>
                <a:latin typeface="JetBrains Mono"/>
                <a:ea typeface="JetBrains Mono"/>
                <a:cs typeface="JetBrains Mono"/>
              </a:rPr>
              <a:t>AQUANET PROJECT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1135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2026-10-16T06:06:35.4830000Z</dcterms:created>
  <dcterms:modified xsi:type="dcterms:W3CDTF">2026-10-16T06:06:35.4830000Z</dcterms:modified>
</coreProperties>
</file>