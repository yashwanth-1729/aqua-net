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31e029eb34854" /><Relationship Type="http://schemas.openxmlformats.org/officeDocument/2006/relationships/extended-properties" Target="/docProps/app.xml" Id="R014367f552d74ad3" /><Relationship Type="http://schemas.openxmlformats.org/officeDocument/2006/relationships/officeDocument" Target="/ppt/presentation.xml" Id="R940c09fd4cef4d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6d59a7d20c47f1"/>
  </p:sldMasterIdLst>
  <p:notesMasterIdLst>
    <p:notesMasterId xmlns:r="http://schemas.openxmlformats.org/officeDocument/2006/relationships" r:id="R12adea905e1b4e91"/>
  </p:notesMasterIdLst>
  <p:sldIdLst>
    <p:sldId xmlns:r="http://schemas.openxmlformats.org/officeDocument/2006/relationships" id="256" r:id="R7b1d26ea4f7e41e9"/>
    <p:sldId xmlns:r="http://schemas.openxmlformats.org/officeDocument/2006/relationships" id="257" r:id="R4d705e12037f45bd"/>
    <p:sldId xmlns:r="http://schemas.openxmlformats.org/officeDocument/2006/relationships" id="258" r:id="R83c664c7f83949d2"/>
    <p:sldId xmlns:r="http://schemas.openxmlformats.org/officeDocument/2006/relationships" id="259" r:id="Rdcf0af8ae6034ca2"/>
    <p:sldId xmlns:r="http://schemas.openxmlformats.org/officeDocument/2006/relationships" id="260" r:id="R4e4940a0fc624a58"/>
    <p:sldId xmlns:r="http://schemas.openxmlformats.org/officeDocument/2006/relationships" id="261" r:id="Rf6dbb985684746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dae35c66fa4dc9" /><Relationship Type="http://schemas.openxmlformats.org/officeDocument/2006/relationships/slideMaster" Target="/ppt/slideMasters/slideMaster1.xml" Id="R226d59a7d20c47f1" /><Relationship Type="http://schemas.openxmlformats.org/officeDocument/2006/relationships/notesMaster" Target="/ppt/notesMasters/notesMaster1.xml" Id="R12adea905e1b4e91" /><Relationship Type="http://schemas.openxmlformats.org/officeDocument/2006/relationships/presProps" Target="/ppt/presProps.xml" Id="R93d4cc03f6214ab9" /><Relationship Type="http://schemas.openxmlformats.org/officeDocument/2006/relationships/tableStyles" Target="/ppt/tableStyles.xml" Id="R981df7a487ec4330" /><Relationship Type="http://schemas.openxmlformats.org/officeDocument/2006/relationships/slide" Target="/ppt/slides/slide1.xml" Id="R7b1d26ea4f7e41e9" /><Relationship Type="http://schemas.openxmlformats.org/officeDocument/2006/relationships/slide" Target="/ppt/slides/slide2.xml" Id="R4d705e12037f45bd" /><Relationship Type="http://schemas.openxmlformats.org/officeDocument/2006/relationships/slide" Target="/ppt/slides/slide3.xml" Id="R83c664c7f83949d2" /><Relationship Type="http://schemas.openxmlformats.org/officeDocument/2006/relationships/slide" Target="/ppt/slides/slide4.xml" Id="Rdcf0af8ae6034ca2" /><Relationship Type="http://schemas.openxmlformats.org/officeDocument/2006/relationships/slide" Target="/ppt/slides/slide5.xml" Id="R4e4940a0fc624a58" /><Relationship Type="http://schemas.openxmlformats.org/officeDocument/2006/relationships/slide" Target="/ppt/slides/slide6.xml" Id="Rf6dbb985684746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6b24cbbc274f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533c76cfd845f2" /><Relationship Type="http://schemas.openxmlformats.org/officeDocument/2006/relationships/notesMaster" Target="/ppt/notesMasters/notesMaster1.xml" Id="R73ef26fd641040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e0518886dd4b2d" /><Relationship Type="http://schemas.openxmlformats.org/officeDocument/2006/relationships/notesMaster" Target="/ppt/notesMasters/notesMaster1.xml" Id="Rdfeea7db00a74f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1fdcd9ee24202" /><Relationship Type="http://schemas.openxmlformats.org/officeDocument/2006/relationships/notesMaster" Target="/ppt/notesMasters/notesMaster1.xml" Id="R56ecdfa44fe049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03ad5a758a4f55" /><Relationship Type="http://schemas.openxmlformats.org/officeDocument/2006/relationships/notesMaster" Target="/ppt/notesMasters/notesMaster1.xml" Id="R33e24d1c921140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04d981989840ad" /><Relationship Type="http://schemas.openxmlformats.org/officeDocument/2006/relationships/notesMaster" Target="/ppt/notesMasters/notesMaster1.xml" Id="Rc750d5e6404445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48dff8cc2d4115" /><Relationship Type="http://schemas.openxmlformats.org/officeDocument/2006/relationships/notesMaster" Target="/ppt/notesMasters/notesMaster1.xml" Id="R2c568fcc248744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ed2e40a1440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c9070eeea4d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c0be60ce040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63d8cc6b44f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b46b963a94b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50e50be764d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243EFC-91C1-4E2A-B600-4791AEB9C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359B39-FFE3-47A5-B5F6-9B21C3606C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076540-7F47-4F93-A97A-706B59750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569591-5980-4111-8F57-F5550787D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933343-F628-4134-AF22-27AED33327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FC1247-22EC-444D-9F0D-0BA8309C8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5AD568-BC2F-4766-B182-162B70435A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19A794-E3CB-4023-87EC-D7D397BA88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4142A5-7B97-4273-9002-B5C5F9C78E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EA93CB-DBB5-441A-80E1-730ACB66A3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439c524eb4488" /><Relationship Type="http://schemas.openxmlformats.org/officeDocument/2006/relationships/slideLayout" Target="/ppt/slideLayouts/slideLayout1.xml" Id="R806c5c9f1caf477f" /><Relationship Type="http://schemas.openxmlformats.org/officeDocument/2006/relationships/slideLayout" Target="/ppt/slideLayouts/slideLayout2.xml" Id="R18decc0ccb3340e5" /><Relationship Type="http://schemas.openxmlformats.org/officeDocument/2006/relationships/slideLayout" Target="/ppt/slideLayouts/slideLayout3.xml" Id="R8ae1fa80f2ea47cc" /><Relationship Type="http://schemas.openxmlformats.org/officeDocument/2006/relationships/slideLayout" Target="/ppt/slideLayouts/slideLayout4.xml" Id="R9e84455840fd4a49" /><Relationship Type="http://schemas.openxmlformats.org/officeDocument/2006/relationships/slideLayout" Target="/ppt/slideLayouts/slideLayout5.xml" Id="Ra4aa71e18c16496c" /><Relationship Type="http://schemas.openxmlformats.org/officeDocument/2006/relationships/slideLayout" Target="/ppt/slideLayouts/slideLayout6.xml" Id="Rc59e000dcdb342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6c5c9f1caf477f"/>
    <p:sldLayoutId xmlns:r="http://schemas.openxmlformats.org/officeDocument/2006/relationships" id="2147483650" r:id="R18decc0ccb3340e5"/>
    <p:sldLayoutId xmlns:r="http://schemas.openxmlformats.org/officeDocument/2006/relationships" id="2147483651" r:id="R8ae1fa80f2ea47cc"/>
    <p:sldLayoutId xmlns:r="http://schemas.openxmlformats.org/officeDocument/2006/relationships" id="2147483652" r:id="R9e84455840fd4a49"/>
    <p:sldLayoutId xmlns:r="http://schemas.openxmlformats.org/officeDocument/2006/relationships" id="2147483653" r:id="Ra4aa71e18c16496c"/>
    <p:sldLayoutId xmlns:r="http://schemas.openxmlformats.org/officeDocument/2006/relationships" id="2147483654" r:id="Rc59e000dcdb342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790cbef2c4b21" /><Relationship Type="http://schemas.openxmlformats.org/officeDocument/2006/relationships/notesSlide" Target="/ppt/notesSlides/notesSlide1.xml" Id="R98063ca1939b40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b1c8bb2a7d4e32" /><Relationship Type="http://schemas.openxmlformats.org/officeDocument/2006/relationships/notesSlide" Target="/ppt/notesSlides/notesSlide2.xml" Id="R99063674e93f4f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301bf51d80422e" /><Relationship Type="http://schemas.openxmlformats.org/officeDocument/2006/relationships/notesSlide" Target="/ppt/notesSlides/notesSlide3.xml" Id="Ree50f761560f47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0a33113824cd6" /><Relationship Type="http://schemas.openxmlformats.org/officeDocument/2006/relationships/notesSlide" Target="/ppt/notesSlides/notesSlide4.xml" Id="R55193a9390fc46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7013dc4b63446a" /><Relationship Type="http://schemas.openxmlformats.org/officeDocument/2006/relationships/notesSlide" Target="/ppt/notesSlides/notesSlide5.xml" Id="Rb0418d48d6df4c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731124acb498c" /><Relationship Type="http://schemas.openxmlformats.org/officeDocument/2006/relationships/notesSlide" Target="/ppt/notesSlides/notesSlide6.xml" Id="R41be994d5d7241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-teal">
            <a:extLst xmlns:a="http://schemas.openxmlformats.org/drawingml/2006/main">
              <a:ext uri="{FF2B5EF4-FFF2-40B4-BE49-F238E27FC236}">
                <a16:creationId xmlns:a16="http://schemas.microsoft.com/office/drawing/2014/main" id="{E3556EDF-2B95-4432-B1EA-E4C2F5BA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57275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accent-lime">
            <a:extLst xmlns:a="http://schemas.openxmlformats.org/drawingml/2006/main">
              <a:ext uri="{FF2B5EF4-FFF2-40B4-BE49-F238E27FC236}">
                <a16:creationId xmlns:a16="http://schemas.microsoft.com/office/drawing/2014/main" id="{C8CAAE77-8779-4499-A0B8-59C969EB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572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EB4510F-6D7B-431D-9F3C-4820FC7E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2E8F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E2E8F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DATA STRUCTURES AND ALGORITHMS PROJECT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FD5060-2892-45AC-92DE-412C28B9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51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AQUANET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926AE9-4C83-42C8-9BED-35FBD20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Smart Water Resource Management Platform</a:t>
            </a:r>
          </a:p>
        </p:txBody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8E26529C-2ADE-4C8E-9420-790B7652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E2E8F0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2E8F0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E2E8F0"/>
                </a:solidFill>
                <a:latin typeface="Inter"/>
                <a:ea typeface="Inter"/>
                <a:cs typeface="Inter"/>
              </a:rPr>
              <a:t>A Java 17 console demo of report search, treatment planning,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2E8F0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E2E8F0"/>
                </a:solidFill>
                <a:latin typeface="Inter"/>
                <a:ea typeface="Inter"/>
                <a:cs typeface="Inter"/>
              </a:rPr>
              <a:t>network flow, constraints, and sensor analysis.</a:t>
            </a:r>
          </a:p>
        </p:txBody>
      </p:sp>
      <p:sp>
        <p:nvSpPr>
          <p:cNvPr id="7" name="cover-tags">
            <a:extLst xmlns:a="http://schemas.openxmlformats.org/drawingml/2006/main">
              <a:ext uri="{FF2B5EF4-FFF2-40B4-BE49-F238E27FC236}">
                <a16:creationId xmlns:a16="http://schemas.microsoft.com/office/drawing/2014/main" id="{E2BE200C-2A77-442C-8D95-71255E3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84CC1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84CC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84CC16"/>
                </a:solidFill>
                <a:latin typeface="JetBrains Mono"/>
                <a:ea typeface="JetBrains Mono"/>
                <a:cs typeface="JetBrains Mono"/>
              </a:rPr>
              <a:t>SEARCH     PLANNING     NETWORK FLOW     ANALYTICS</a:t>
            </a:r>
          </a:p>
        </p:txBody>
      </p:sp>
      <p:sp>
        <p:nvSpPr>
          <p:cNvPr id="8" name="cover-footer-rule">
            <a:extLst xmlns:a="http://schemas.openxmlformats.org/drawingml/2006/main">
              <a:ext uri="{FF2B5EF4-FFF2-40B4-BE49-F238E27FC236}">
                <a16:creationId xmlns:a16="http://schemas.microsoft.com/office/drawing/2014/main" id="{3347288C-1CDF-4750-8AC1-59371BBF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11BCE34-3F38-451F-A88E-7EA2C1E3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055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AQUANET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15302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F814C18-5F17-4E10-AC59-2428CA43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M1–M2 · CO1–CO2 / TEXT METHODS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E22EE5-391C-440F-B503-90FD8B19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Search and index water reports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14027E1-EAAD-45D1-AB6F-8D00E95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668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String matching finds report terms; suffix structures reveal repeated phrases.</a:t>
            </a:r>
          </a:p>
        </p:txBody>
      </p:sp>
      <p:sp>
        <p:nvSpPr>
          <p:cNvPr id="4" name="method-heading">
            <a:extLst xmlns:a="http://schemas.openxmlformats.org/drawingml/2006/main">
              <a:ext uri="{FF2B5EF4-FFF2-40B4-BE49-F238E27FC236}">
                <a16:creationId xmlns:a16="http://schemas.microsoft.com/office/drawing/2014/main" id="{B43CA700-614E-470C-8D6A-A69B40F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METHOD</a:t>
            </a:r>
          </a:p>
        </p:txBody>
      </p:sp>
      <p:sp>
        <p:nvSpPr>
          <p:cNvPr id="5" name="role-heading">
            <a:extLst xmlns:a="http://schemas.openxmlformats.org/drawingml/2006/main">
              <a:ext uri="{FF2B5EF4-FFF2-40B4-BE49-F238E27FC236}">
                <a16:creationId xmlns:a16="http://schemas.microsoft.com/office/drawing/2014/main" id="{A0D400B0-7576-4C7E-95D6-E1A324D9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383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WHERE IT HELPS</a:t>
            </a:r>
          </a:p>
        </p:txBody>
      </p:sp>
      <p:sp>
        <p:nvSpPr>
          <p:cNvPr id="6" name="table-header-rule">
            <a:extLst xmlns:a="http://schemas.openxmlformats.org/drawingml/2006/main">
              <a:ext uri="{FF2B5EF4-FFF2-40B4-BE49-F238E27FC236}">
                <a16:creationId xmlns:a16="http://schemas.microsoft.com/office/drawing/2014/main" id="{05D7D153-836E-4135-BEB2-821AABC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7" name="m1-algorithm-0">
            <a:extLst xmlns:a="http://schemas.openxmlformats.org/drawingml/2006/main">
              <a:ext uri="{FF2B5EF4-FFF2-40B4-BE49-F238E27FC236}">
                <a16:creationId xmlns:a16="http://schemas.microsoft.com/office/drawing/2014/main" id="{B3C1F844-42DB-47AB-833A-9C75EF37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CO1: KMP + RK</a:t>
            </a:r>
          </a:p>
        </p:txBody>
      </p:sp>
      <p:sp>
        <p:nvSpPr>
          <p:cNvPr id="8" name="m1-purpose-0">
            <a:extLst xmlns:a="http://schemas.openxmlformats.org/drawingml/2006/main">
              <a:ext uri="{FF2B5EF4-FFF2-40B4-BE49-F238E27FC236}">
                <a16:creationId xmlns:a16="http://schemas.microsoft.com/office/drawing/2014/main" id="{5AB2008D-2AF4-4919-AA0F-5E107EE1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33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Find a typed term in the report and asset IDs.</a:t>
            </a:r>
          </a:p>
        </p:txBody>
      </p:sp>
      <p:sp>
        <p:nvSpPr>
          <p:cNvPr id="9" name="m1-rule-0">
            <a:extLst xmlns:a="http://schemas.openxmlformats.org/drawingml/2006/main">
              <a:ext uri="{FF2B5EF4-FFF2-40B4-BE49-F238E27FC236}">
                <a16:creationId xmlns:a16="http://schemas.microsoft.com/office/drawing/2014/main" id="{602E25DC-F0B3-4664-9157-D2CFF879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m1-algorithm-1">
            <a:extLst xmlns:a="http://schemas.openxmlformats.org/drawingml/2006/main">
              <a:ext uri="{FF2B5EF4-FFF2-40B4-BE49-F238E27FC236}">
                <a16:creationId xmlns:a16="http://schemas.microsoft.com/office/drawing/2014/main" id="{CF0CB041-6593-4022-A280-641DA353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CO1: Z + Aho</a:t>
            </a:r>
          </a:p>
        </p:txBody>
      </p:sp>
      <p:sp>
        <p:nvSpPr>
          <p:cNvPr id="11" name="m1-purpose-1">
            <a:extLst xmlns:a="http://schemas.openxmlformats.org/drawingml/2006/main">
              <a:ext uri="{FF2B5EF4-FFF2-40B4-BE49-F238E27FC236}">
                <a16:creationId xmlns:a16="http://schemas.microsoft.com/office/drawing/2014/main" id="{E180D374-FEE4-4AFF-92F2-1B3DD055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43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Show fixed “turbidity” prefixes and scan four alert words.</a:t>
            </a:r>
          </a:p>
        </p:txBody>
      </p:sp>
      <p:sp>
        <p:nvSpPr>
          <p:cNvPr id="12" name="m1-rule-1">
            <a:extLst xmlns:a="http://schemas.openxmlformats.org/drawingml/2006/main">
              <a:ext uri="{FF2B5EF4-FFF2-40B4-BE49-F238E27FC236}">
                <a16:creationId xmlns:a16="http://schemas.microsoft.com/office/drawing/2014/main" id="{AFAAE1B8-7F99-460A-B9E8-11816560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m1-algorithm-2">
            <a:extLst xmlns:a="http://schemas.openxmlformats.org/drawingml/2006/main">
              <a:ext uri="{FF2B5EF4-FFF2-40B4-BE49-F238E27FC236}">
                <a16:creationId xmlns:a16="http://schemas.microsoft.com/office/drawing/2014/main" id="{DBF83B8A-2A41-4F4E-99A8-2428DD52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CO2: SA-IS + LCP</a:t>
            </a:r>
          </a:p>
        </p:txBody>
      </p:sp>
      <p:sp>
        <p:nvSpPr>
          <p:cNvPr id="14" name="m1-purpose-2">
            <a:extLst xmlns:a="http://schemas.openxmlformats.org/drawingml/2006/main">
              <a:ext uri="{FF2B5EF4-FFF2-40B4-BE49-F238E27FC236}">
                <a16:creationId xmlns:a16="http://schemas.microsoft.com/office/drawing/2014/main" id="{6582EAFD-A839-4E77-AFD5-B4D8F5CC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52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Order report suffixes and measure shared phrases.</a:t>
            </a:r>
          </a:p>
        </p:txBody>
      </p:sp>
      <p:sp>
        <p:nvSpPr>
          <p:cNvPr id="15" name="m1-rule-2">
            <a:extLst xmlns:a="http://schemas.openxmlformats.org/drawingml/2006/main">
              <a:ext uri="{FF2B5EF4-FFF2-40B4-BE49-F238E27FC236}">
                <a16:creationId xmlns:a16="http://schemas.microsoft.com/office/drawing/2014/main" id="{5D6E64EA-6663-4B7A-A033-3EE0ADA5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m1-algorithm-3">
            <a:extLst xmlns:a="http://schemas.openxmlformats.org/drawingml/2006/main">
              <a:ext uri="{FF2B5EF4-FFF2-40B4-BE49-F238E27FC236}">
                <a16:creationId xmlns:a16="http://schemas.microsoft.com/office/drawing/2014/main" id="{95EA2A2E-404B-4FD3-BE2A-81D8A24F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CO2: suffix queries</a:t>
            </a:r>
          </a:p>
        </p:txBody>
      </p:sp>
      <p:sp>
        <p:nvSpPr>
          <p:cNvPr id="17" name="m1-purpose-3">
            <a:extLst xmlns:a="http://schemas.openxmlformats.org/drawingml/2006/main">
              <a:ext uri="{FF2B5EF4-FFF2-40B4-BE49-F238E27FC236}">
                <a16:creationId xmlns:a16="http://schemas.microsoft.com/office/drawing/2014/main" id="{A004A6C5-6B2E-4711-B8E3-E3F146F4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62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Find “turbidity” and check whether “PIPE-14” occurs.</a:t>
            </a:r>
          </a:p>
        </p:txBody>
      </p:sp>
      <p:sp>
        <p:nvSpPr>
          <p:cNvPr id="18" name="m1-rule-3">
            <a:extLst xmlns:a="http://schemas.openxmlformats.org/drawingml/2006/main">
              <a:ext uri="{FF2B5EF4-FFF2-40B4-BE49-F238E27FC236}">
                <a16:creationId xmlns:a16="http://schemas.microsoft.com/office/drawing/2014/main" id="{0F93DB70-25E0-4EF0-A5A3-22C71D06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member-search-callout">
            <a:extLst xmlns:a="http://schemas.openxmlformats.org/drawingml/2006/main">
              <a:ext uri="{FF2B5EF4-FFF2-40B4-BE49-F238E27FC236}">
                <a16:creationId xmlns:a16="http://schemas.microsoft.com/office/drawing/2014/main" id="{0694ADB1-A081-462C-B5A3-F41E59F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47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mber-search-label">
            <a:extLst xmlns:a="http://schemas.openxmlformats.org/drawingml/2006/main">
              <a:ext uri="{FF2B5EF4-FFF2-40B4-BE49-F238E27FC236}">
                <a16:creationId xmlns:a16="http://schemas.microsoft.com/office/drawing/2014/main" id="{95313E90-2CA8-4CF1-8BD0-F5F845C7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84CC1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84CC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84CC16"/>
                </a:solidFill>
                <a:latin typeface="JetBrains Mono"/>
                <a:ea typeface="JetBrains Mono"/>
                <a:cs typeface="JetBrains Mono"/>
              </a:rPr>
              <a:t>DEMO RESULT</a:t>
            </a:r>
          </a:p>
        </p:txBody>
      </p:sp>
      <p:sp>
        <p:nvSpPr>
          <p:cNvPr id="21" name="member-search-copy">
            <a:extLst xmlns:a="http://schemas.openxmlformats.org/drawingml/2006/main">
              <a:ext uri="{FF2B5EF4-FFF2-40B4-BE49-F238E27FC236}">
                <a16:creationId xmlns:a16="http://schemas.microsoft.com/office/drawing/2014/main" id="{59DC42B3-2BA4-4A3B-9A4A-2681832A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KMP finds two “turbidity” matches. SA-IS works on the bundled text but needs fixes for other inputs.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A431C00-0A96-4A6F-85AF-5BD44F2D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10C2DA4-A3FF-4A3B-89C5-5915B730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AQUANET  /  DSA PROJECT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D0B7D5C-1BCA-4F6B-B6F2-F53FD86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9477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A453DF-3119-445B-9532-E6C33224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M3 · CO3 / DYNAMIC PROGRAMMING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753568-5DCE-495B-8322-A2AA2D72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Plan treatment and correct entries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710C46-C21F-4247-BFC5-A72D7F35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668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Fixed examples show budget selection, matrix ordering, lookup cost, and typo distance.</a:t>
            </a:r>
          </a:p>
        </p:txBody>
      </p:sp>
      <p:sp>
        <p:nvSpPr>
          <p:cNvPr id="4" name="dp-divider">
            <a:extLst xmlns:a="http://schemas.openxmlformats.org/drawingml/2006/main">
              <a:ext uri="{FF2B5EF4-FFF2-40B4-BE49-F238E27FC236}">
                <a16:creationId xmlns:a16="http://schemas.microsoft.com/office/drawing/2014/main" id="{484B7036-DC3F-48E9-8F84-AFFDD52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dp-live-label">
            <a:extLst xmlns:a="http://schemas.openxmlformats.org/drawingml/2006/main">
              <a:ext uri="{FF2B5EF4-FFF2-40B4-BE49-F238E27FC236}">
                <a16:creationId xmlns:a16="http://schemas.microsoft.com/office/drawing/2014/main" id="{0DF2C205-EA6F-4F99-9F57-A98F6B15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CONNECTED TO PLANNING</a:t>
            </a:r>
          </a:p>
        </p:txBody>
      </p:sp>
      <p:sp>
        <p:nvSpPr>
          <p:cNvPr id="6" name="dp-live-title">
            <a:extLst xmlns:a="http://schemas.openxmlformats.org/drawingml/2006/main">
              <a:ext uri="{FF2B5EF4-FFF2-40B4-BE49-F238E27FC236}">
                <a16:creationId xmlns:a16="http://schemas.microsoft.com/office/drawing/2014/main" id="{AD5B7D6F-3A01-4DD3-91F0-0ADA1B46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Treatment selection</a:t>
            </a:r>
          </a:p>
        </p:txBody>
      </p:sp>
      <p:sp>
        <p:nvSpPr>
          <p:cNvPr id="7" name="dp-flow-1">
            <a:extLst xmlns:a="http://schemas.openxmlformats.org/drawingml/2006/main">
              <a:ext uri="{FF2B5EF4-FFF2-40B4-BE49-F238E27FC236}">
                <a16:creationId xmlns:a16="http://schemas.microsoft.com/office/drawing/2014/main" id="{C2DD75BB-1B39-4B0F-8D53-999154A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Four unit costs</a:t>
            </a:r>
          </a:p>
        </p:txBody>
      </p:sp>
      <p:cxnSp>
        <p:nvCxnSpPr>
          <p:cNvPr id="8" name="dp-flow-arrow-1">
            <a:extLst xmlns:a="http://schemas.openxmlformats.org/drawingml/2006/main">
              <a:ext uri="{FF2B5EF4-FFF2-40B4-BE49-F238E27FC236}">
                <a16:creationId xmlns:a16="http://schemas.microsoft.com/office/drawing/2014/main" id="{85FE5A56-C7E9-48E5-A5A7-3AA412811E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47950" y="3314700"/>
            <a:ext cx="781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9" name="dp-flow-2">
            <a:extLst xmlns:a="http://schemas.openxmlformats.org/drawingml/2006/main">
              <a:ext uri="{FF2B5EF4-FFF2-40B4-BE49-F238E27FC236}">
                <a16:creationId xmlns:a16="http://schemas.microsoft.com/office/drawing/2014/main" id="{38223650-F1AB-4FEF-9BBB-DDA576D5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52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Check budget 12</a:t>
            </a:r>
          </a:p>
        </p:txBody>
      </p:sp>
      <p:cxnSp>
        <p:nvCxnSpPr>
          <p:cNvPr id="10" name="dp-flow-arrow-2">
            <a:extLst xmlns:a="http://schemas.openxmlformats.org/drawingml/2006/main">
              <a:ext uri="{FF2B5EF4-FFF2-40B4-BE49-F238E27FC236}">
                <a16:creationId xmlns:a16="http://schemas.microsoft.com/office/drawing/2014/main" id="{A48FE4FA-8FE5-4CD2-B3FD-3FB9BD1C2F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67000" y="3724275"/>
            <a:ext cx="762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" name="dp-flow-3">
            <a:extLst xmlns:a="http://schemas.openxmlformats.org/drawingml/2006/main">
              <a:ext uri="{FF2B5EF4-FFF2-40B4-BE49-F238E27FC236}">
                <a16:creationId xmlns:a16="http://schemas.microsoft.com/office/drawing/2014/main" id="{38DB5931-DB2C-4084-B156-A2327DBE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9488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D9488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Choose 3 treatment units</a:t>
            </a:r>
          </a:p>
        </p:txBody>
      </p:sp>
      <p:sp>
        <p:nvSpPr>
          <p:cNvPr id="12" name="dp-live-body">
            <a:extLst xmlns:a="http://schemas.openxmlformats.org/drawingml/2006/main">
              <a:ext uri="{FF2B5EF4-FFF2-40B4-BE49-F238E27FC236}">
                <a16:creationId xmlns:a16="http://schemas.microsoft.com/office/drawing/2014/main" id="{A3AC5FB7-42F5-43B8-AEC4-78F61F9F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Bitmask DP checks every combination and selects the largest affordable set.</a:t>
            </a:r>
          </a:p>
        </p:txBody>
      </p:sp>
      <p:sp>
        <p:nvSpPr>
          <p:cNvPr id="13" name="dp-utilities-label">
            <a:extLst xmlns:a="http://schemas.openxmlformats.org/drawingml/2006/main">
              <a:ext uri="{FF2B5EF4-FFF2-40B4-BE49-F238E27FC236}">
                <a16:creationId xmlns:a16="http://schemas.microsoft.com/office/drawing/2014/main" id="{F9551539-9828-49D9-974F-3D2E53BC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OTHER METHODS IN THE MENU</a:t>
            </a:r>
          </a:p>
        </p:txBody>
      </p:sp>
      <p:sp>
        <p:nvSpPr>
          <p:cNvPr id="14" name="dp-utilities-title">
            <a:extLst xmlns:a="http://schemas.openxmlformats.org/drawingml/2006/main">
              <a:ext uri="{FF2B5EF4-FFF2-40B4-BE49-F238E27FC236}">
                <a16:creationId xmlns:a16="http://schemas.microsoft.com/office/drawing/2014/main" id="{6944C06A-D8DA-4079-8A01-4FCC6458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Dynamic programming examples</a:t>
            </a:r>
          </a:p>
        </p:txBody>
      </p:sp>
      <p:sp>
        <p:nvSpPr>
          <p:cNvPr id="15" name="dp-bullet-0">
            <a:extLst xmlns:a="http://schemas.openxmlformats.org/drawingml/2006/main">
              <a:ext uri="{FF2B5EF4-FFF2-40B4-BE49-F238E27FC236}">
                <a16:creationId xmlns:a16="http://schemas.microsoft.com/office/drawing/2014/main" id="{B57B245B-AF27-41BD-81F0-22FDA9FC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p-util-0">
            <a:extLst xmlns:a="http://schemas.openxmlformats.org/drawingml/2006/main">
              <a:ext uri="{FF2B5EF4-FFF2-40B4-BE49-F238E27FC236}">
                <a16:creationId xmlns:a16="http://schemas.microsoft.com/office/drawing/2014/main" id="{49CED27F-EB95-49D2-8F5E-EB3C6C3C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Damerau–Levenshtein — “turbidty” is 1 edit away</a:t>
            </a:r>
          </a:p>
        </p:txBody>
      </p:sp>
      <p:sp>
        <p:nvSpPr>
          <p:cNvPr id="17" name="dp-bullet-1">
            <a:extLst xmlns:a="http://schemas.openxmlformats.org/drawingml/2006/main">
              <a:ext uri="{FF2B5EF4-FFF2-40B4-BE49-F238E27FC236}">
                <a16:creationId xmlns:a16="http://schemas.microsoft.com/office/drawing/2014/main" id="{B7A2669C-D975-400D-BDB0-6D2CD665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p-util-1">
            <a:extLst xmlns:a="http://schemas.openxmlformats.org/drawingml/2006/main">
              <a:ext uri="{FF2B5EF4-FFF2-40B4-BE49-F238E27FC236}">
                <a16:creationId xmlns:a16="http://schemas.microsoft.com/office/drawing/2014/main" id="{78F80897-95DB-4B5D-8B53-44BCDFA6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Matrix-chain DP — 15,125 multiplications in the sample</a:t>
            </a:r>
          </a:p>
        </p:txBody>
      </p:sp>
      <p:sp>
        <p:nvSpPr>
          <p:cNvPr id="19" name="dp-bullet-2">
            <a:extLst xmlns:a="http://schemas.openxmlformats.org/drawingml/2006/main">
              <a:ext uri="{FF2B5EF4-FFF2-40B4-BE49-F238E27FC236}">
                <a16:creationId xmlns:a16="http://schemas.microsoft.com/office/drawing/2014/main" id="{86E6AFFF-22F2-46DF-875C-AC5CA413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p-util-2">
            <a:extLst xmlns:a="http://schemas.openxmlformats.org/drawingml/2006/main">
              <a:ext uri="{FF2B5EF4-FFF2-40B4-BE49-F238E27FC236}">
                <a16:creationId xmlns:a16="http://schemas.microsoft.com/office/drawing/2014/main" id="{C63CE9ED-7DDE-4310-B110-DC2B66B7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91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Optimal BST — cost 166 for four access frequencies</a:t>
            </a:r>
          </a:p>
        </p:txBody>
      </p:sp>
      <p:sp>
        <p:nvSpPr>
          <p:cNvPr id="21" name="dp-bullet-3">
            <a:extLst xmlns:a="http://schemas.openxmlformats.org/drawingml/2006/main">
              <a:ext uri="{FF2B5EF4-FFF2-40B4-BE49-F238E27FC236}">
                <a16:creationId xmlns:a16="http://schemas.microsoft.com/office/drawing/2014/main" id="{B40041DB-855E-4619-B027-FE9B205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29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p-util-3">
            <a:extLst xmlns:a="http://schemas.openxmlformats.org/drawingml/2006/main">
              <a:ext uri="{FF2B5EF4-FFF2-40B4-BE49-F238E27FC236}">
                <a16:creationId xmlns:a16="http://schemas.microsoft.com/office/drawing/2014/main" id="{8AD8E9E1-D002-427E-9647-81349592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Levenshtein — insertions, deletions and substitutions</a:t>
            </a:r>
          </a:p>
        </p:txBody>
      </p:sp>
      <p:sp>
        <p:nvSpPr>
          <p:cNvPr id="23" name="dp-utility-caveat">
            <a:extLst xmlns:a="http://schemas.openxmlformats.org/drawingml/2006/main">
              <a:ext uri="{FF2B5EF4-FFF2-40B4-BE49-F238E27FC236}">
                <a16:creationId xmlns:a16="http://schemas.microsoft.com/office/drawing/2014/main" id="{636D83B5-F08B-46B7-A029-7D8F2447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102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These calculations use fixed values in the console; they do not update treatment schedules.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A75481C-37D6-44A1-9438-6173844C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06AAB13-E13F-4922-9953-2A620AA3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AQUANET  /  DSA PROJECT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FE304F-BDEC-4712-9261-33432930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7856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9842719-CF6E-486C-BF19-7E3FC604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M4 · CO4 / NETWORK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42EF32-069D-4E15-B8D7-388BE8E8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Measure flow and assign operators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1E432B-2F0C-4318-8F38-8B9369AE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668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Two max-flow methods agree on the sample network; matching assigns treatment operators.</a:t>
            </a:r>
          </a:p>
        </p:txBody>
      </p:sp>
      <p:sp>
        <p:nvSpPr>
          <p:cNvPr id="4" name="m4-review-heading">
            <a:extLst xmlns:a="http://schemas.openxmlformats.org/drawingml/2006/main">
              <a:ext uri="{FF2B5EF4-FFF2-40B4-BE49-F238E27FC236}">
                <a16:creationId xmlns:a16="http://schemas.microsoft.com/office/drawing/2014/main" id="{16166727-4006-4EE0-88E0-75FF1CE4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OPERATOR MATCHING</a:t>
            </a:r>
          </a:p>
        </p:txBody>
      </p:sp>
      <p:sp>
        <p:nvSpPr>
          <p:cNvPr id="5" name="m4-review-sub">
            <a:extLst xmlns:a="http://schemas.openxmlformats.org/drawingml/2006/main">
              <a:ext uri="{FF2B5EF4-FFF2-40B4-BE49-F238E27FC236}">
                <a16:creationId xmlns:a16="http://schemas.microsoft.com/office/drawing/2014/main" id="{E01B22C8-969A-4691-87CB-BBE01603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Eligible operators ↔ treatment units</a:t>
            </a:r>
          </a:p>
        </p:txBody>
      </p:sp>
      <p:sp>
        <p:nvSpPr>
          <p:cNvPr id="6" name="reviewer-0">
            <a:extLst xmlns:a="http://schemas.openxmlformats.org/drawingml/2006/main">
              <a:ext uri="{FF2B5EF4-FFF2-40B4-BE49-F238E27FC236}">
                <a16:creationId xmlns:a16="http://schemas.microsoft.com/office/drawing/2014/main" id="{F61BEC7A-A239-4C80-824C-327B23EB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Operator 1</a:t>
            </a:r>
          </a:p>
        </p:txBody>
      </p:sp>
      <p:sp>
        <p:nvSpPr>
          <p:cNvPr id="7" name="review-edge-0">
            <a:extLst xmlns:a="http://schemas.openxmlformats.org/drawingml/2006/main">
              <a:ext uri="{FF2B5EF4-FFF2-40B4-BE49-F238E27FC236}">
                <a16:creationId xmlns:a16="http://schemas.microsoft.com/office/drawing/2014/main" id="{46034B5D-7B47-4729-B8EA-442CB5EF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9488"/>
            </a:solidFill>
            <a:prstDash val="solid"/>
          </a:ln>
        </p:spPr>
      </p:sp>
      <p:sp>
        <p:nvSpPr>
          <p:cNvPr id="8" name="review-paper-0">
            <a:extLst xmlns:a="http://schemas.openxmlformats.org/drawingml/2006/main">
              <a:ext uri="{FF2B5EF4-FFF2-40B4-BE49-F238E27FC236}">
                <a16:creationId xmlns:a16="http://schemas.microsoft.com/office/drawing/2014/main" id="{420ACD5E-731F-4FC6-B10F-8EFB6662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28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Unit B</a:t>
            </a:r>
          </a:p>
        </p:txBody>
      </p:sp>
      <p:sp>
        <p:nvSpPr>
          <p:cNvPr id="9" name="reviewer-1">
            <a:extLst xmlns:a="http://schemas.openxmlformats.org/drawingml/2006/main">
              <a:ext uri="{FF2B5EF4-FFF2-40B4-BE49-F238E27FC236}">
                <a16:creationId xmlns:a16="http://schemas.microsoft.com/office/drawing/2014/main" id="{041808F7-F805-4D18-8F53-38D50286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Operator 2</a:t>
            </a:r>
          </a:p>
        </p:txBody>
      </p:sp>
      <p:sp>
        <p:nvSpPr>
          <p:cNvPr id="10" name="review-edge-1">
            <a:extLst xmlns:a="http://schemas.openxmlformats.org/drawingml/2006/main">
              <a:ext uri="{FF2B5EF4-FFF2-40B4-BE49-F238E27FC236}">
                <a16:creationId xmlns:a16="http://schemas.microsoft.com/office/drawing/2014/main" id="{13BC05E9-291E-4CF0-9ADD-A00C539B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00475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4CC16"/>
            </a:solidFill>
            <a:prstDash val="solid"/>
          </a:ln>
        </p:spPr>
      </p:sp>
      <p:sp>
        <p:nvSpPr>
          <p:cNvPr id="11" name="review-paper-1">
            <a:extLst xmlns:a="http://schemas.openxmlformats.org/drawingml/2006/main">
              <a:ext uri="{FF2B5EF4-FFF2-40B4-BE49-F238E27FC236}">
                <a16:creationId xmlns:a16="http://schemas.microsoft.com/office/drawing/2014/main" id="{6ABC6CB8-CA54-4F5B-BB42-FF9349CD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480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Unit A</a:t>
            </a:r>
          </a:p>
        </p:txBody>
      </p:sp>
      <p:sp>
        <p:nvSpPr>
          <p:cNvPr id="12" name="reviewer-2">
            <a:extLst xmlns:a="http://schemas.openxmlformats.org/drawingml/2006/main">
              <a:ext uri="{FF2B5EF4-FFF2-40B4-BE49-F238E27FC236}">
                <a16:creationId xmlns:a16="http://schemas.microsoft.com/office/drawing/2014/main" id="{2750DAC3-4DE8-4DF5-8682-6DE62AA6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Operator 3</a:t>
            </a:r>
          </a:p>
        </p:txBody>
      </p:sp>
      <p:sp>
        <p:nvSpPr>
          <p:cNvPr id="13" name="review-edge-2">
            <a:extLst xmlns:a="http://schemas.openxmlformats.org/drawingml/2006/main">
              <a:ext uri="{FF2B5EF4-FFF2-40B4-BE49-F238E27FC236}">
                <a16:creationId xmlns:a16="http://schemas.microsoft.com/office/drawing/2014/main" id="{9CEB74F4-042E-4E00-912A-A96D9CC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196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9488"/>
            </a:solidFill>
            <a:prstDash val="solid"/>
          </a:ln>
        </p:spPr>
      </p:sp>
      <p:sp>
        <p:nvSpPr>
          <p:cNvPr id="14" name="review-paper-2">
            <a:extLst xmlns:a="http://schemas.openxmlformats.org/drawingml/2006/main">
              <a:ext uri="{FF2B5EF4-FFF2-40B4-BE49-F238E27FC236}">
                <a16:creationId xmlns:a16="http://schemas.microsoft.com/office/drawing/2014/main" id="{53ED1255-4B3E-436F-A9B6-513CDEC4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672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Unit C</a:t>
            </a:r>
          </a:p>
        </p:txBody>
      </p:sp>
      <p:sp>
        <p:nvSpPr>
          <p:cNvPr id="15" name="m4-review-note">
            <a:extLst xmlns:a="http://schemas.openxmlformats.org/drawingml/2006/main">
              <a:ext uri="{FF2B5EF4-FFF2-40B4-BE49-F238E27FC236}">
                <a16:creationId xmlns:a16="http://schemas.microsoft.com/office/drawing/2014/main" id="{7CD70B2F-A69B-4873-B31D-AF06B02C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Bipartite matching assigns all 3 operators to eligible units in the sample.</a:t>
            </a:r>
          </a:p>
        </p:txBody>
      </p:sp>
      <p:sp>
        <p:nvSpPr>
          <p:cNvPr id="16" name="m4-divider">
            <a:extLst xmlns:a="http://schemas.openxmlformats.org/drawingml/2006/main">
              <a:ext uri="{FF2B5EF4-FFF2-40B4-BE49-F238E27FC236}">
                <a16:creationId xmlns:a16="http://schemas.microsoft.com/office/drawing/2014/main" id="{996946AF-F6C7-4BC7-AF98-89BF4CF2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m4-flow-heading">
            <a:extLst xmlns:a="http://schemas.openxmlformats.org/drawingml/2006/main">
              <a:ext uri="{FF2B5EF4-FFF2-40B4-BE49-F238E27FC236}">
                <a16:creationId xmlns:a16="http://schemas.microsoft.com/office/drawing/2014/main" id="{21B06A95-4BD9-4AED-86ED-39ADB168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WATER ROUTING</a:t>
            </a:r>
          </a:p>
        </p:txBody>
      </p:sp>
      <p:sp>
        <p:nvSpPr>
          <p:cNvPr id="18" name="flow-library">
            <a:extLst xmlns:a="http://schemas.openxmlformats.org/drawingml/2006/main">
              <a:ext uri="{FF2B5EF4-FFF2-40B4-BE49-F238E27FC236}">
                <a16:creationId xmlns:a16="http://schemas.microsoft.com/office/drawing/2014/main" id="{94A7579B-153D-4C90-AA2A-2A101A9B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1381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low-service-a">
            <a:extLst xmlns:a="http://schemas.openxmlformats.org/drawingml/2006/main">
              <a:ext uri="{FF2B5EF4-FFF2-40B4-BE49-F238E27FC236}">
                <a16:creationId xmlns:a16="http://schemas.microsoft.com/office/drawing/2014/main" id="{20DD2249-75B8-4594-B454-C9D45BBE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1381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flow-service-b">
            <a:extLst xmlns:a="http://schemas.openxmlformats.org/drawingml/2006/main">
              <a:ext uri="{FF2B5EF4-FFF2-40B4-BE49-F238E27FC236}">
                <a16:creationId xmlns:a16="http://schemas.microsoft.com/office/drawing/2014/main" id="{8EA9D775-02B3-4C6C-8105-7DE2C172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1381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flow-destination">
            <a:extLst xmlns:a="http://schemas.openxmlformats.org/drawingml/2006/main">
              <a:ext uri="{FF2B5EF4-FFF2-40B4-BE49-F238E27FC236}">
                <a16:creationId xmlns:a16="http://schemas.microsoft.com/office/drawing/2014/main" id="{5BB96DC5-39C4-41F8-9F48-9F67191E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24200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library-text">
            <a:extLst xmlns:a="http://schemas.openxmlformats.org/drawingml/2006/main">
              <a:ext uri="{FF2B5EF4-FFF2-40B4-BE49-F238E27FC236}">
                <a16:creationId xmlns:a16="http://schemas.microsoft.com/office/drawing/2014/main" id="{A864FA86-EB6F-4584-B31F-1B6C60AB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86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Reservoir</a:t>
            </a:r>
          </a:p>
        </p:txBody>
      </p:sp>
      <p:sp>
        <p:nvSpPr>
          <p:cNvPr id="23" name="flow-service-a-text">
            <a:extLst xmlns:a="http://schemas.openxmlformats.org/drawingml/2006/main">
              <a:ext uri="{FF2B5EF4-FFF2-40B4-BE49-F238E27FC236}">
                <a16:creationId xmlns:a16="http://schemas.microsoft.com/office/drawing/2014/main" id="{FFD7E6D6-E12C-48B8-9435-CD36E933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19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Path A</a:t>
            </a:r>
          </a:p>
        </p:txBody>
      </p:sp>
      <p:sp>
        <p:nvSpPr>
          <p:cNvPr id="24" name="flow-service-b-text">
            <a:extLst xmlns:a="http://schemas.openxmlformats.org/drawingml/2006/main">
              <a:ext uri="{FF2B5EF4-FFF2-40B4-BE49-F238E27FC236}">
                <a16:creationId xmlns:a16="http://schemas.microsoft.com/office/drawing/2014/main" id="{C24EA085-0E02-486A-9447-4A559D8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67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Path B</a:t>
            </a:r>
          </a:p>
        </p:txBody>
      </p:sp>
      <p:sp>
        <p:nvSpPr>
          <p:cNvPr id="25" name="flow-dest-text">
            <a:extLst xmlns:a="http://schemas.openxmlformats.org/drawingml/2006/main">
              <a:ext uri="{FF2B5EF4-FFF2-40B4-BE49-F238E27FC236}">
                <a16:creationId xmlns:a16="http://schemas.microsoft.com/office/drawing/2014/main" id="{1D213A40-A1D4-4257-B912-61ABEE51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861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Demand</a:t>
            </a:r>
          </a:p>
        </p:txBody>
      </p:sp>
      <p:cxnSp>
        <p:nvCxnSpPr>
          <p:cNvPr id="26" name="flow-edge-a">
            <a:extLst xmlns:a="http://schemas.openxmlformats.org/drawingml/2006/main">
              <a:ext uri="{FF2B5EF4-FFF2-40B4-BE49-F238E27FC236}">
                <a16:creationId xmlns:a16="http://schemas.microsoft.com/office/drawing/2014/main" id="{A8D7E21E-3A9C-42E1-A552-CAEFACD74EE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991475" y="2952750"/>
            <a:ext cx="6000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7" name="flow-edge-b">
            <a:extLst xmlns:a="http://schemas.openxmlformats.org/drawingml/2006/main">
              <a:ext uri="{FF2B5EF4-FFF2-40B4-BE49-F238E27FC236}">
                <a16:creationId xmlns:a16="http://schemas.microsoft.com/office/drawing/2014/main" id="{23DCF105-075D-40D6-8F8B-8A74BD2147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91475" y="3543300"/>
            <a:ext cx="600075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8" name="flow-edge-c">
            <a:extLst xmlns:a="http://schemas.openxmlformats.org/drawingml/2006/main">
              <a:ext uri="{FF2B5EF4-FFF2-40B4-BE49-F238E27FC236}">
                <a16:creationId xmlns:a16="http://schemas.microsoft.com/office/drawing/2014/main" id="{F8D46553-921C-4375-87EC-02A65CCD8A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15550" y="2952750"/>
            <a:ext cx="1714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9" name="flow-edge-d">
            <a:extLst xmlns:a="http://schemas.openxmlformats.org/drawingml/2006/main">
              <a:ext uri="{FF2B5EF4-FFF2-40B4-BE49-F238E27FC236}">
                <a16:creationId xmlns:a16="http://schemas.microsoft.com/office/drawing/2014/main" id="{CA275416-6059-4C5E-8B4F-BACE3C3AD66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115550" y="3543300"/>
            <a:ext cx="17145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" name="m4-flow-note">
            <a:extLst xmlns:a="http://schemas.openxmlformats.org/drawingml/2006/main">
              <a:ext uri="{FF2B5EF4-FFF2-40B4-BE49-F238E27FC236}">
                <a16:creationId xmlns:a16="http://schemas.microsoft.com/office/drawing/2014/main" id="{9FAFE8CD-E750-404E-9207-7525F465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Edmonds–Karp and Dinic both find 16 units of maximum flow; the minimum cut also has capacity 16.</a:t>
            </a:r>
          </a:p>
        </p:txBody>
      </p:sp>
      <p:sp>
        <p:nvSpPr>
          <p:cNvPr id="31" name="m4-caveat">
            <a:extLst xmlns:a="http://schemas.openxmlformats.org/drawingml/2006/main">
              <a:ext uri="{FF2B5EF4-FFF2-40B4-BE49-F238E27FC236}">
                <a16:creationId xmlns:a16="http://schemas.microsoft.com/office/drawing/2014/main" id="{B7AC7502-E35D-4329-BA65-811CDE0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477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4-caveat-copy">
            <a:extLst xmlns:a="http://schemas.openxmlformats.org/drawingml/2006/main">
              <a:ext uri="{FF2B5EF4-FFF2-40B4-BE49-F238E27FC236}">
                <a16:creationId xmlns:a16="http://schemas.microsoft.com/office/drawing/2014/main" id="{DD2C94DF-081D-4920-A79E-F6981084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626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The diagram simplifies the five-node example graph. No live pipeline or operator records are stored.</a:t>
            </a:r>
          </a:p>
        </p:txBody>
      </p:sp>
      <p:sp>
        <p:nvSpPr>
          <p:cNvPr id="3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76DAD6E-5783-4917-8E50-80CBECEB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B9B2500-D324-44B9-9EBD-49DC67AE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AQUANET  /  DSA PROJECT</a:t>
            </a:r>
          </a:p>
        </p:txBody>
      </p:sp>
      <p:sp>
        <p:nvSpPr>
          <p:cNvPr id="3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90C2EFC-108A-422D-9D3E-0F4E2B46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468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8D09FD4-CCEB-4481-BB8C-17AC9299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M5 · CO5 / NP-COMPLETENESS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285C29-C315-4EC6-8748-40BC6C55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Check constraints and cover conflicts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133BEAE-B23E-482E-92D8-5C1285FB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668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Small SAT and graph examples illustrate planning problems with costly exact solutions.</a:t>
            </a:r>
          </a:p>
        </p:txBody>
      </p:sp>
      <p:sp>
        <p:nvSpPr>
          <p:cNvPr id="4" name="m5-connected-label">
            <a:extLst xmlns:a="http://schemas.openxmlformats.org/drawingml/2006/main">
              <a:ext uri="{FF2B5EF4-FFF2-40B4-BE49-F238E27FC236}">
                <a16:creationId xmlns:a16="http://schemas.microsoft.com/office/drawing/2014/main" id="{D6234D92-5780-47BA-9A7C-2334BAD2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CONSOLE EXAMPLES</a:t>
            </a:r>
          </a:p>
        </p:txBody>
      </p:sp>
      <p:sp>
        <p:nvSpPr>
          <p:cNvPr id="5" name="m5-connected-copy">
            <a:extLst xmlns:a="http://schemas.openxmlformats.org/drawingml/2006/main">
              <a:ext uri="{FF2B5EF4-FFF2-40B4-BE49-F238E27FC236}">
                <a16:creationId xmlns:a16="http://schemas.microsoft.com/office/drawing/2014/main" id="{4321947A-2DBD-4DDF-9970-F13E4C64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A three-variable SAT example finds a satisfying assignment. A four-node graph demonstrates a vertex-cover approximation.</a:t>
            </a:r>
          </a:p>
        </p:txBody>
      </p:sp>
      <p:sp>
        <p:nvSpPr>
          <p:cNvPr id="6" name="m5-reduction-label">
            <a:extLst xmlns:a="http://schemas.openxmlformats.org/drawingml/2006/main">
              <a:ext uri="{FF2B5EF4-FFF2-40B4-BE49-F238E27FC236}">
                <a16:creationId xmlns:a16="http://schemas.microsoft.com/office/drawing/2014/main" id="{AC45C312-48F9-46A2-AC22-0661217C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REDUCTION METHODS IN THE CODE</a:t>
            </a:r>
          </a:p>
        </p:txBody>
      </p:sp>
      <p:sp>
        <p:nvSpPr>
          <p:cNvPr id="7" name="m5-reduction-node-0">
            <a:extLst xmlns:a="http://schemas.openxmlformats.org/drawingml/2006/main">
              <a:ext uri="{FF2B5EF4-FFF2-40B4-BE49-F238E27FC236}">
                <a16:creationId xmlns:a16="http://schemas.microsoft.com/office/drawing/2014/main" id="{0D18B3B1-9269-45D2-92A6-EF594F2A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1066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m5-reduction-text-0">
            <a:extLst xmlns:a="http://schemas.openxmlformats.org/drawingml/2006/main">
              <a:ext uri="{FF2B5EF4-FFF2-40B4-BE49-F238E27FC236}">
                <a16:creationId xmlns:a16="http://schemas.microsoft.com/office/drawing/2014/main" id="{2477B9D7-5A45-48AC-9B0E-6C271AEF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3-SAT</a:t>
            </a:r>
          </a:p>
        </p:txBody>
      </p:sp>
      <p:cxnSp>
        <p:nvCxnSpPr>
          <p:cNvPr id="9" name="m5-reduction-arrow-0">
            <a:extLst xmlns:a="http://schemas.openxmlformats.org/drawingml/2006/main">
              <a:ext uri="{FF2B5EF4-FFF2-40B4-BE49-F238E27FC236}">
                <a16:creationId xmlns:a16="http://schemas.microsoft.com/office/drawing/2014/main" id="{8F9E77E6-5AFA-4C7F-9007-2C977146FE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19975" y="2890838"/>
            <a:ext cx="142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0" name="m5-reduction-node-1">
            <a:extLst xmlns:a="http://schemas.openxmlformats.org/drawingml/2006/main">
              <a:ext uri="{FF2B5EF4-FFF2-40B4-BE49-F238E27FC236}">
                <a16:creationId xmlns:a16="http://schemas.microsoft.com/office/drawing/2014/main" id="{DE76BB17-BC90-4564-A470-706B3C37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1066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m5-reduction-text-1">
            <a:extLst xmlns:a="http://schemas.openxmlformats.org/drawingml/2006/main">
              <a:ext uri="{FF2B5EF4-FFF2-40B4-BE49-F238E27FC236}">
                <a16:creationId xmlns:a16="http://schemas.microsoft.com/office/drawing/2014/main" id="{01DAC4F3-B5EB-496F-92F7-0DF46088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05100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CLIQUE</a:t>
            </a:r>
          </a:p>
        </p:txBody>
      </p:sp>
      <p:cxnSp>
        <p:nvCxnSpPr>
          <p:cNvPr id="12" name="m5-reduction-arrow-1">
            <a:extLst xmlns:a="http://schemas.openxmlformats.org/drawingml/2006/main">
              <a:ext uri="{FF2B5EF4-FFF2-40B4-BE49-F238E27FC236}">
                <a16:creationId xmlns:a16="http://schemas.microsoft.com/office/drawing/2014/main" id="{7C83D751-03DC-4323-A1DC-91137115E2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05850" y="2890838"/>
            <a:ext cx="142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m5-reduction-node-2">
            <a:extLst xmlns:a="http://schemas.openxmlformats.org/drawingml/2006/main">
              <a:ext uri="{FF2B5EF4-FFF2-40B4-BE49-F238E27FC236}">
                <a16:creationId xmlns:a16="http://schemas.microsoft.com/office/drawing/2014/main" id="{0456863F-7F8D-4F4F-AD86-909250F7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1066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m5-reduction-text-2">
            <a:extLst xmlns:a="http://schemas.openxmlformats.org/drawingml/2006/main">
              <a:ext uri="{FF2B5EF4-FFF2-40B4-BE49-F238E27FC236}">
                <a16:creationId xmlns:a16="http://schemas.microsoft.com/office/drawing/2014/main" id="{2EBB4772-91C9-4716-964D-F7D1D5B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05100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INDEPENDENT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SET</a:t>
            </a:r>
          </a:p>
        </p:txBody>
      </p:sp>
      <p:cxnSp>
        <p:nvCxnSpPr>
          <p:cNvPr id="15" name="m5-reduction-arrow-2">
            <a:extLst xmlns:a="http://schemas.openxmlformats.org/drawingml/2006/main">
              <a:ext uri="{FF2B5EF4-FFF2-40B4-BE49-F238E27FC236}">
                <a16:creationId xmlns:a16="http://schemas.microsoft.com/office/drawing/2014/main" id="{2B5E2740-8ABA-420F-BBFC-F70CA58962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91725" y="2890838"/>
            <a:ext cx="142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6" name="m5-reduction-node-3">
            <a:extLst xmlns:a="http://schemas.openxmlformats.org/drawingml/2006/main">
              <a:ext uri="{FF2B5EF4-FFF2-40B4-BE49-F238E27FC236}">
                <a16:creationId xmlns:a16="http://schemas.microsoft.com/office/drawing/2014/main" id="{7C127F84-3FD8-49AF-A617-096DFDF0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71750"/>
            <a:ext cx="1066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5-reduction-text-3">
            <a:extLst xmlns:a="http://schemas.openxmlformats.org/drawingml/2006/main">
              <a:ext uri="{FF2B5EF4-FFF2-40B4-BE49-F238E27FC236}">
                <a16:creationId xmlns:a16="http://schemas.microsoft.com/office/drawing/2014/main" id="{57022EFF-918E-4C1C-A0EB-FCFBAC96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05100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VERTEX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COVER</a:t>
            </a:r>
          </a:p>
        </p:txBody>
      </p:sp>
      <p:sp>
        <p:nvSpPr>
          <p:cNvPr id="18" name="m5-divider">
            <a:extLst xmlns:a="http://schemas.openxmlformats.org/drawingml/2006/main">
              <a:ext uri="{FF2B5EF4-FFF2-40B4-BE49-F238E27FC236}">
                <a16:creationId xmlns:a16="http://schemas.microsoft.com/office/drawing/2014/main" id="{F0F4A03D-CAE3-4680-91CC-E19DC876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m5-approx-label">
            <a:extLst xmlns:a="http://schemas.openxmlformats.org/drawingml/2006/main">
              <a:ext uri="{FF2B5EF4-FFF2-40B4-BE49-F238E27FC236}">
                <a16:creationId xmlns:a16="http://schemas.microsoft.com/office/drawing/2014/main" id="{6048E441-7DF9-4C53-BB29-EEC54D68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WHAT THE MENU REPORTS</a:t>
            </a:r>
          </a:p>
        </p:txBody>
      </p:sp>
      <p:sp>
        <p:nvSpPr>
          <p:cNvPr id="20" name="m5-approx-copy">
            <a:extLst xmlns:a="http://schemas.openxmlformats.org/drawingml/2006/main">
              <a:ext uri="{FF2B5EF4-FFF2-40B4-BE49-F238E27FC236}">
                <a16:creationId xmlns:a16="http://schemas.microsoft.com/office/drawing/2014/main" id="{DD048337-C366-4610-BC80-70A262BC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The console reports whether the SAT example is satisfiable, counts 3-SAT-to-CLIQUE compatibility edges, and prints an approximate vertex cover. These are teaching examples.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12886B-1C02-47E3-9032-7E8B2B57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B75857D-6716-4CAB-9B0A-F7C71CC7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AQUANET  /  DSA PROJECT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1AF7CBB-9618-441A-8AB7-6DBF36D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25834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3CD2707-1FE0-40D3-BB43-BD854E7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M6 · CO6 / RANDOMIZED &amp; PARALLEL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96D16F-6075-4819-AB02-ADB2CB07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Summarize sensor observations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2B53C1-1115-43A2-800A-55668D0F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668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Five fixed readings feed sampling, ranking, cumulative totals, and mean pH.</a:t>
            </a:r>
          </a:p>
        </p:txBody>
      </p:sp>
      <p:sp>
        <p:nvSpPr>
          <p:cNvPr id="4" name="usage-stage-0-surface">
            <a:extLst xmlns:a="http://schemas.openxmlformats.org/drawingml/2006/main">
              <a:ext uri="{FF2B5EF4-FFF2-40B4-BE49-F238E27FC236}">
                <a16:creationId xmlns:a16="http://schemas.microsoft.com/office/drawing/2014/main" id="{7FB05F49-8025-4B16-8A4B-2C197F5E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usage-stage-0-accent">
            <a:extLst xmlns:a="http://schemas.openxmlformats.org/drawingml/2006/main">
              <a:ext uri="{FF2B5EF4-FFF2-40B4-BE49-F238E27FC236}">
                <a16:creationId xmlns:a16="http://schemas.microsoft.com/office/drawing/2014/main" id="{2B38E002-D8E1-48B4-9359-881DACE3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sage-stage-0-title">
            <a:extLst xmlns:a="http://schemas.openxmlformats.org/drawingml/2006/main">
              <a:ext uri="{FF2B5EF4-FFF2-40B4-BE49-F238E27FC236}">
                <a16:creationId xmlns:a16="http://schemas.microsoft.com/office/drawing/2014/main" id="{327F6DAF-EF0E-4C60-8F41-34BB55A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895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Sensor stream</a:t>
            </a:r>
          </a:p>
        </p:txBody>
      </p:sp>
      <p:sp>
        <p:nvSpPr>
          <p:cNvPr id="7" name="usage-stage-0-body">
            <a:extLst xmlns:a="http://schemas.openxmlformats.org/drawingml/2006/main">
              <a:ext uri="{FF2B5EF4-FFF2-40B4-BE49-F238E27FC236}">
                <a16:creationId xmlns:a16="http://schemas.microsoft.com/office/drawing/2014/main" id="{669C3C87-29EE-42AC-B998-81A2CD66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8954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Five readings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S1 to S5</a:t>
            </a:r>
          </a:p>
        </p:txBody>
      </p:sp>
      <p:sp>
        <p:nvSpPr>
          <p:cNvPr id="8" name="usage-stage-1-surface">
            <a:extLst xmlns:a="http://schemas.openxmlformats.org/drawingml/2006/main">
              <a:ext uri="{FF2B5EF4-FFF2-40B4-BE49-F238E27FC236}">
                <a16:creationId xmlns:a16="http://schemas.microsoft.com/office/drawing/2014/main" id="{F389C466-2936-4DE6-A37B-B85511F4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usage-stage-1-accent">
            <a:extLst xmlns:a="http://schemas.openxmlformats.org/drawingml/2006/main">
              <a:ext uri="{FF2B5EF4-FFF2-40B4-BE49-F238E27FC236}">
                <a16:creationId xmlns:a16="http://schemas.microsoft.com/office/drawing/2014/main" id="{4CF3DDCF-3727-4346-B41A-3FB8FDBA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usage-stage-1-title">
            <a:extLst xmlns:a="http://schemas.openxmlformats.org/drawingml/2006/main">
              <a:ext uri="{FF2B5EF4-FFF2-40B4-BE49-F238E27FC236}">
                <a16:creationId xmlns:a16="http://schemas.microsoft.com/office/drawing/2014/main" id="{7B0C38EA-DC0A-4D73-834B-EE7E1751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14600"/>
            <a:ext cx="1895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Sample</a:t>
            </a:r>
          </a:p>
        </p:txBody>
      </p:sp>
      <p:sp>
        <p:nvSpPr>
          <p:cNvPr id="11" name="usage-stage-1-body">
            <a:extLst xmlns:a="http://schemas.openxmlformats.org/drawingml/2006/main">
              <a:ext uri="{FF2B5EF4-FFF2-40B4-BE49-F238E27FC236}">
                <a16:creationId xmlns:a16="http://schemas.microsoft.com/office/drawing/2014/main" id="{E31D8373-365E-42C3-B6C7-C832B586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18954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Reservoir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sampling, k=3</a:t>
            </a:r>
          </a:p>
        </p:txBody>
      </p:sp>
      <p:sp>
        <p:nvSpPr>
          <p:cNvPr id="12" name="usage-stage-2-surface">
            <a:extLst xmlns:a="http://schemas.openxmlformats.org/drawingml/2006/main">
              <a:ext uri="{FF2B5EF4-FFF2-40B4-BE49-F238E27FC236}">
                <a16:creationId xmlns:a16="http://schemas.microsoft.com/office/drawing/2014/main" id="{6D66615E-98EA-42FC-AD7F-5FCA7771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usage-stage-2-accent">
            <a:extLst xmlns:a="http://schemas.openxmlformats.org/drawingml/2006/main">
              <a:ext uri="{FF2B5EF4-FFF2-40B4-BE49-F238E27FC236}">
                <a16:creationId xmlns:a16="http://schemas.microsoft.com/office/drawing/2014/main" id="{9DB39242-F9F4-4C19-8039-EB7906C3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usage-stage-2-title">
            <a:extLst xmlns:a="http://schemas.openxmlformats.org/drawingml/2006/main">
              <a:ext uri="{FF2B5EF4-FFF2-40B4-BE49-F238E27FC236}">
                <a16:creationId xmlns:a16="http://schemas.microsoft.com/office/drawing/2014/main" id="{690B25DB-2FB7-4711-828D-C3E58A97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1895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Mean pH</a:t>
            </a:r>
          </a:p>
        </p:txBody>
      </p:sp>
      <p:sp>
        <p:nvSpPr>
          <p:cNvPr id="15" name="usage-stage-2-body">
            <a:extLst xmlns:a="http://schemas.openxmlformats.org/drawingml/2006/main">
              <a:ext uri="{FF2B5EF4-FFF2-40B4-BE49-F238E27FC236}">
                <a16:creationId xmlns:a16="http://schemas.microsoft.com/office/drawing/2014/main" id="{7F3C9977-A78C-4AE2-98E9-9ED82A0E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8954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Parallel average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7.08</a:t>
            </a:r>
          </a:p>
        </p:txBody>
      </p:sp>
      <p:sp>
        <p:nvSpPr>
          <p:cNvPr id="16" name="usage-stage-3-surface">
            <a:extLst xmlns:a="http://schemas.openxmlformats.org/drawingml/2006/main">
              <a:ext uri="{FF2B5EF4-FFF2-40B4-BE49-F238E27FC236}">
                <a16:creationId xmlns:a16="http://schemas.microsoft.com/office/drawing/2014/main" id="{54AC609D-7EEC-4616-8E1E-DB5D04B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33625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usage-stage-3-accent">
            <a:extLst xmlns:a="http://schemas.openxmlformats.org/drawingml/2006/main">
              <a:ext uri="{FF2B5EF4-FFF2-40B4-BE49-F238E27FC236}">
                <a16:creationId xmlns:a16="http://schemas.microsoft.com/office/drawing/2014/main" id="{16B5A991-5598-4852-ADD3-B1268B1B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33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sage-stage-3-title">
            <a:extLst xmlns:a="http://schemas.openxmlformats.org/drawingml/2006/main">
              <a:ext uri="{FF2B5EF4-FFF2-40B4-BE49-F238E27FC236}">
                <a16:creationId xmlns:a16="http://schemas.microsoft.com/office/drawing/2014/main" id="{0FB1EDB5-F6BE-4F8A-A3CB-85C09741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14600"/>
            <a:ext cx="1895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Cumulative level</a:t>
            </a:r>
          </a:p>
        </p:txBody>
      </p:sp>
      <p:sp>
        <p:nvSpPr>
          <p:cNvPr id="19" name="usage-stage-3-body">
            <a:extLst xmlns:a="http://schemas.openxmlformats.org/drawingml/2006/main">
              <a:ext uri="{FF2B5EF4-FFF2-40B4-BE49-F238E27FC236}">
                <a16:creationId xmlns:a16="http://schemas.microsoft.com/office/drawing/2014/main" id="{A40697B2-27BE-493B-8708-D598E37F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14650"/>
            <a:ext cx="18954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Scan output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88 to 417</a:t>
            </a:r>
          </a:p>
        </p:txBody>
      </p:sp>
      <p:cxnSp>
        <p:nvCxnSpPr>
          <p:cNvPr id="20" name="usage-flow-0">
            <a:extLst xmlns:a="http://schemas.openxmlformats.org/drawingml/2006/main">
              <a:ext uri="{FF2B5EF4-FFF2-40B4-BE49-F238E27FC236}">
                <a16:creationId xmlns:a16="http://schemas.microsoft.com/office/drawing/2014/main" id="{B0D22B45-5EFE-42C5-87E0-543C544DF6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67050" y="3048000"/>
            <a:ext cx="333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" name="usage-flow-1">
            <a:extLst xmlns:a="http://schemas.openxmlformats.org/drawingml/2006/main">
              <a:ext uri="{FF2B5EF4-FFF2-40B4-BE49-F238E27FC236}">
                <a16:creationId xmlns:a16="http://schemas.microsoft.com/office/drawing/2014/main" id="{D5BC4025-6DC6-4958-9523-5BCF462E945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62625" y="3048000"/>
            <a:ext cx="333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2" name="usage-flow-2">
            <a:extLst xmlns:a="http://schemas.openxmlformats.org/drawingml/2006/main">
              <a:ext uri="{FF2B5EF4-FFF2-40B4-BE49-F238E27FC236}">
                <a16:creationId xmlns:a16="http://schemas.microsoft.com/office/drawing/2014/main" id="{02C6700D-255E-4B4D-8CB1-6CCBC79D97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58200" y="3048000"/>
            <a:ext cx="333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m6-ranking-label">
            <a:extLst xmlns:a="http://schemas.openxmlformats.org/drawingml/2006/main">
              <a:ext uri="{FF2B5EF4-FFF2-40B4-BE49-F238E27FC236}">
                <a16:creationId xmlns:a16="http://schemas.microsoft.com/office/drawing/2014/main" id="{092DFAE4-C828-487E-829D-54A42218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RANKING</a:t>
            </a:r>
          </a:p>
        </p:txBody>
      </p:sp>
      <p:sp>
        <p:nvSpPr>
          <p:cNvPr id="24" name="m6-ranking-copy">
            <a:extLst xmlns:a="http://schemas.openxmlformats.org/drawingml/2006/main">
              <a:ext uri="{FF2B5EF4-FFF2-40B4-BE49-F238E27FC236}">
                <a16:creationId xmlns:a16="http://schemas.microsoft.com/office/drawing/2014/main" id="{A20D8B26-E7A5-4FFE-8D09-E464EBC1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Randomized QuickSort orders five sample demand values from 9,000 to 18,000 L/day.</a:t>
            </a:r>
          </a:p>
        </p:txBody>
      </p:sp>
      <p:sp>
        <p:nvSpPr>
          <p:cNvPr id="25" name="m6-standalone-label">
            <a:extLst xmlns:a="http://schemas.openxmlformats.org/drawingml/2006/main">
              <a:ext uri="{FF2B5EF4-FFF2-40B4-BE49-F238E27FC236}">
                <a16:creationId xmlns:a16="http://schemas.microsoft.com/office/drawing/2014/main" id="{6FE3A72E-6C66-480F-866C-9472A607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D9488"/>
                </a:solidFill>
                <a:latin typeface="JetBrains Mono"/>
                <a:ea typeface="JetBrains Mono"/>
                <a:cs typeface="JetBrains Mono"/>
              </a:rPr>
              <a:t>ADDITIONAL UTILITIES</a:t>
            </a:r>
          </a:p>
        </p:txBody>
      </p:sp>
      <p:sp>
        <p:nvSpPr>
          <p:cNvPr id="26" name="m6-standalone-copy">
            <a:extLst xmlns:a="http://schemas.openxmlformats.org/drawingml/2006/main">
              <a:ext uri="{FF2B5EF4-FFF2-40B4-BE49-F238E27FC236}">
                <a16:creationId xmlns:a16="http://schemas.microsoft.com/office/drawing/2014/main" id="{4928BF97-C912-47C0-B19B-F2388665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5095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334155"/>
                </a:solidFill>
                <a:latin typeface="Inter"/>
                <a:ea typeface="Inter"/>
                <a:cs typeface="Inter"/>
              </a:rPr>
              <a:t>Miller–Rabin checks whether 1,000,003 is prime. Brent’s bound estimates parallel work. Both are teaching utilities.</a:t>
            </a:r>
          </a:p>
        </p:txBody>
      </p:sp>
      <p:sp>
        <p:nvSpPr>
          <p:cNvPr id="27" name="m6-caveat">
            <a:extLst xmlns:a="http://schemas.openxmlformats.org/drawingml/2006/main">
              <a:ext uri="{FF2B5EF4-FFF2-40B4-BE49-F238E27FC236}">
                <a16:creationId xmlns:a16="http://schemas.microsoft.com/office/drawing/2014/main" id="{CEEC9A47-F0D1-413E-BFDC-7001B838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47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6-caveat-copy">
            <a:extLst xmlns:a="http://schemas.openxmlformats.org/drawingml/2006/main">
              <a:ext uri="{FF2B5EF4-FFF2-40B4-BE49-F238E27FC236}">
                <a16:creationId xmlns:a16="http://schemas.microsoft.com/office/drawing/2014/main" id="{903494FB-E46A-4710-8DBB-F0F60C51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95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The console calls the scan “exclusive,” but it returns inclusive totals. Sensor values are defined in source code.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3CA95D4-A60D-406C-9FB2-BF2B086A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DFA6F0A-F922-430B-A1FA-3428468A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AQUANET  /  DSA PROJECT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D91C78-2662-448F-BE65-36D2DE57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862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2026-10-16T06:10:14.1700000Z</dcterms:created>
  <dcterms:modified xsi:type="dcterms:W3CDTF">2026-10-16T06:10:14.1700000Z</dcterms:modified>
</coreProperties>
</file>